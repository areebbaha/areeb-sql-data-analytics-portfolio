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03" r:id="rId3"/>
    <p:sldId id="258" r:id="rId4"/>
    <p:sldId id="260" r:id="rId5"/>
    <p:sldId id="289" r:id="rId6"/>
    <p:sldId id="261" r:id="rId7"/>
    <p:sldId id="262" r:id="rId8"/>
    <p:sldId id="304" r:id="rId9"/>
    <p:sldId id="305" r:id="rId10"/>
    <p:sldId id="306" r:id="rId11"/>
    <p:sldId id="307" r:id="rId12"/>
    <p:sldId id="309" r:id="rId13"/>
    <p:sldId id="310" r:id="rId14"/>
    <p:sldId id="308" r:id="rId15"/>
    <p:sldId id="312" r:id="rId16"/>
    <p:sldId id="314" r:id="rId17"/>
    <p:sldId id="315" r:id="rId18"/>
    <p:sldId id="313" r:id="rId19"/>
    <p:sldId id="316" r:id="rId20"/>
    <p:sldId id="319" r:id="rId21"/>
    <p:sldId id="317" r:id="rId22"/>
    <p:sldId id="320" r:id="rId23"/>
    <p:sldId id="321" r:id="rId24"/>
    <p:sldId id="322" r:id="rId25"/>
    <p:sldId id="323" r:id="rId26"/>
    <p:sldId id="324" r:id="rId27"/>
    <p:sldId id="325" r:id="rId28"/>
    <p:sldId id="266" r:id="rId29"/>
    <p:sldId id="326" r:id="rId30"/>
    <p:sldId id="327" r:id="rId31"/>
    <p:sldId id="259" r:id="rId32"/>
  </p:sldIdLst>
  <p:sldSz cx="12192000" cy="6858000"/>
  <p:notesSz cx="6858000" cy="9144000"/>
  <p:embeddedFontLst>
    <p:embeddedFont>
      <p:font typeface="Cambria" panose="02040503050406030204" pitchFamily="18" charset="0"/>
      <p:regular r:id="rId34"/>
      <p:bold r:id="rId35"/>
      <p:italic r:id="rId36"/>
      <p:boldItalic r:id="rId37"/>
    </p:embeddedFon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Libre Baskerville" panose="020000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DA8618-4E8D-498D-BB45-68039A0FE120}" v="23" dt="2026-09-21T06:46:54.566"/>
    <p1510:client id="{BBC284D0-25B4-4A0C-A075-477DC62C9C0D}" v="2632" dt="2026-09-21T06:45:28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84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7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eebbaha" TargetMode="External"/><Relationship Id="rId2" Type="http://schemas.openxmlformats.org/officeDocument/2006/relationships/hyperlink" Target="https://www.linkedin.com/in/syed-areeb-ds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syed-abdul-sattar" TargetMode="External"/><Relationship Id="rId4" Type="http://schemas.openxmlformats.org/officeDocument/2006/relationships/hyperlink" Target="https://www.linkedin.com/in/syed-abdul-sattar-575589277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-593" y="128588"/>
            <a:ext cx="12192000" cy="5807780"/>
          </a:xfrm>
          <a:prstGeom prst="rect">
            <a:avLst/>
          </a:prstGeom>
        </p:spPr>
      </p:pic>
      <p:sp>
        <p:nvSpPr>
          <p:cNvPr id="99" name="Google Shape;99;p1"/>
          <p:cNvSpPr txBox="1"/>
          <p:nvPr/>
        </p:nvSpPr>
        <p:spPr>
          <a:xfrm>
            <a:off x="1101926" y="3494198"/>
            <a:ext cx="9986962" cy="2339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AE" sz="3000" b="1" dirty="0">
                <a:latin typeface="+mj-lt"/>
                <a:cs typeface="Times New Roman" panose="02020603050405020304" pitchFamily="18" charset="0"/>
              </a:rPr>
              <a:t>HOSPITAL PATIENT CARE OPERATIONS ANALYTICS</a:t>
            </a:r>
          </a:p>
          <a:p>
            <a:pPr algn="ctr"/>
            <a:r>
              <a:rPr lang="en-US" sz="2000" b="1" dirty="0">
                <a:latin typeface="Cambria"/>
                <a:ea typeface="Cambria"/>
                <a:cs typeface="Times New Roman"/>
              </a:rPr>
              <a:t>MySQL Business Analytics Project</a:t>
            </a:r>
            <a:endParaRPr lang="en-AE" sz="2000" b="1">
              <a:cs typeface="Times New Roman"/>
            </a:endParaRPr>
          </a:p>
          <a:p>
            <a:pPr algn="ctr"/>
            <a:endParaRPr lang="en-AE" sz="2300" b="1" dirty="0">
              <a:latin typeface="+mj-lt"/>
              <a:cs typeface="Times New Roman"/>
            </a:endParaRPr>
          </a:p>
          <a:p>
            <a:pPr algn="ctr"/>
            <a:endParaRPr lang="en-AE" sz="2300" b="1" dirty="0">
              <a:latin typeface="+mj-lt"/>
              <a:cs typeface="Times New Roman"/>
            </a:endParaRPr>
          </a:p>
          <a:p>
            <a:pPr algn="ctr"/>
            <a:r>
              <a:rPr lang="en-AE" sz="2300" b="1" dirty="0">
                <a:latin typeface="+mj-lt"/>
                <a:cs typeface="Times New Roman"/>
              </a:rPr>
              <a:t>Presented By : </a:t>
            </a:r>
            <a:r>
              <a:rPr lang="en-AE" sz="2500" dirty="0">
                <a:latin typeface="+mj-lt"/>
                <a:cs typeface="Times New Roman"/>
              </a:rPr>
              <a:t>SYED AREEB</a:t>
            </a:r>
          </a:p>
          <a:p>
            <a:pPr algn="ctr"/>
            <a:r>
              <a:rPr lang="en-AE" sz="2500">
                <a:cs typeface="Times New Roman"/>
              </a:rPr>
              <a:t>                                       SYED ABDUL SATTAR</a:t>
            </a:r>
            <a:endParaRPr lang="en-AE" sz="2500" dirty="0"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2481B2-D0BF-377F-11B1-B7B7DF1D7176}"/>
              </a:ext>
            </a:extLst>
          </p:cNvPr>
          <p:cNvSpPr txBox="1"/>
          <p:nvPr/>
        </p:nvSpPr>
        <p:spPr>
          <a:xfrm>
            <a:off x="1019003" y="-8444"/>
            <a:ext cx="1033192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4000" dirty="0"/>
              <a:t>                      </a:t>
            </a:r>
            <a:r>
              <a:rPr lang="en-GB" sz="4000" b="1" dirty="0">
                <a:solidFill>
                  <a:srgbClr val="FF0000"/>
                </a:solidFill>
              </a:rPr>
              <a:t>Team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3A6EA-9463-0A44-F5F5-F6C5F058E006}"/>
              </a:ext>
            </a:extLst>
          </p:cNvPr>
          <p:cNvSpPr txBox="1"/>
          <p:nvPr/>
        </p:nvSpPr>
        <p:spPr>
          <a:xfrm>
            <a:off x="6167529" y="1964189"/>
            <a:ext cx="532722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   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E5244D-1249-8B41-08FD-90622C075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                        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379384-CE67-C9AB-2983-B107556A2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584" y="1251515"/>
            <a:ext cx="5901845" cy="492544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DC0014"/>
                </a:solidFill>
                <a:latin typeface="Arial"/>
                <a:cs typeface="Arial"/>
              </a:rPr>
              <a:t>Team Member 1:- SYED AREEB</a:t>
            </a:r>
            <a:endParaRPr lang="en-US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srgbClr val="DC0014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Background:-  B.E. Computer Science Engineering</a:t>
            </a:r>
            <a:br>
              <a:rPr lang="en-US" sz="1800" b="1" dirty="0">
                <a:latin typeface="Arial"/>
                <a:cs typeface="Arial"/>
              </a:rPr>
            </a:b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Muffakham Jah College of Engineering and Technology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rgbClr val="232323"/>
                </a:solidFill>
                <a:latin typeface="Arial"/>
                <a:cs typeface="Arial"/>
              </a:rPr>
              <a:t>      </a:t>
            </a:r>
            <a:endParaRPr lang="en-US" b="1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Work Experience: Fresher</a:t>
            </a:r>
            <a:br>
              <a:rPr lang="en-US" sz="1800" b="1" dirty="0">
                <a:latin typeface="Arial"/>
                <a:cs typeface="Arial"/>
              </a:rPr>
            </a:br>
            <a:br>
              <a:rPr lang="en-US" sz="1400" b="1" dirty="0">
                <a:latin typeface="Arial"/>
                <a:cs typeface="Arial"/>
              </a:rPr>
            </a:b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Why Data Science?</a:t>
            </a:r>
            <a:br>
              <a:rPr lang="en-US" sz="1800" b="1" dirty="0">
                <a:latin typeface="Arial"/>
                <a:cs typeface="Arial"/>
              </a:rPr>
            </a:b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I want to build strong skills in data analysis and machine learning and use data to solve practical business problems.</a:t>
            </a:r>
            <a:endParaRPr lang="en-US" sz="1800" b="1">
              <a:latin typeface="Arial"/>
              <a:cs typeface="Arial"/>
            </a:endParaRPr>
          </a:p>
          <a:p>
            <a:pPr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LinkedIn:-</a:t>
            </a:r>
            <a:endParaRPr lang="en-GB" sz="18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  <a:hlinkClick r:id="rId2"/>
              </a:rPr>
              <a:t>https://www.linkedin.com/in/syed-areeb-ds</a:t>
            </a:r>
            <a:endParaRPr lang="en-GB" sz="1800" b="1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GitHub:- </a:t>
            </a:r>
            <a:endParaRPr lang="en-GB" sz="18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GB" sz="2000" dirty="0">
                <a:solidFill>
                  <a:srgbClr val="000000"/>
                </a:solidFill>
                <a:latin typeface="Arial"/>
                <a:cs typeface="Arial"/>
                <a:hlinkClick r:id="rId3"/>
              </a:rPr>
              <a:t>https://github.com/areebbaha</a:t>
            </a:r>
            <a:endParaRPr lang="en-GB" sz="2000">
              <a:latin typeface="Arial"/>
              <a:cs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8C7B27D-96E6-D879-27AB-CD03127EDBC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251516"/>
            <a:ext cx="5849654" cy="4925447"/>
          </a:xfrm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200" b="1" dirty="0">
                <a:solidFill>
                  <a:srgbClr val="DC0014"/>
                </a:solidFill>
                <a:latin typeface="Arial"/>
                <a:cs typeface="Arial"/>
              </a:rPr>
              <a:t>Team Member 2:- </a:t>
            </a:r>
            <a:r>
              <a:rPr lang="en-US" sz="2000" b="1" dirty="0">
                <a:solidFill>
                  <a:srgbClr val="DC0014"/>
                </a:solidFill>
                <a:latin typeface="Arial"/>
                <a:cs typeface="Arial"/>
              </a:rPr>
              <a:t>SYED ABDUL SATTAR</a:t>
            </a:r>
            <a:endParaRPr lang="en-US" sz="20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700" b="1" dirty="0">
              <a:solidFill>
                <a:srgbClr val="DC0014"/>
              </a:solidFill>
              <a:latin typeface="Arial"/>
              <a:cs typeface="Arial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700" b="1" dirty="0">
              <a:solidFill>
                <a:srgbClr val="DC0014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Background:- B.E. Computer Science Engineering</a:t>
            </a:r>
            <a:endParaRPr lang="en-US" sz="18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b="1" dirty="0">
                <a:latin typeface="Arial"/>
                <a:cs typeface="Arial"/>
              </a:rPr>
            </a:b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Muffakham Jah College of Engineering and Technology</a:t>
            </a:r>
            <a:br>
              <a:rPr lang="en-US" sz="1800" b="1" dirty="0">
                <a:latin typeface="Arial"/>
                <a:cs typeface="Arial"/>
              </a:rPr>
            </a:br>
            <a:br>
              <a:rPr lang="en-US" sz="1800" b="1" dirty="0">
                <a:latin typeface="Arial"/>
                <a:cs typeface="Arial"/>
              </a:rPr>
            </a:b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Work Experience: Fresher</a:t>
            </a:r>
            <a:br>
              <a:rPr lang="en-US" sz="1800" b="1" dirty="0">
                <a:latin typeface="Arial"/>
                <a:cs typeface="Arial"/>
              </a:rPr>
            </a:br>
            <a:br>
              <a:rPr lang="en-US" sz="1800" b="1" dirty="0">
                <a:latin typeface="Arial"/>
                <a:cs typeface="Arial"/>
              </a:rPr>
            </a:b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Why Data Science?</a:t>
            </a:r>
            <a:endParaRPr lang="en-US" sz="18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b="1" dirty="0">
                <a:latin typeface="Arial"/>
                <a:cs typeface="Arial"/>
              </a:rPr>
            </a:b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I want to develop practical data skills, understand real-world datasets and use analytics to support better decision-making.</a:t>
            </a:r>
            <a:endParaRPr lang="en-US" sz="1800" b="1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 dirty="0">
              <a:solidFill>
                <a:srgbClr val="232323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LinkedIn:-</a:t>
            </a:r>
            <a:endParaRPr lang="en-GB" sz="1800" b="1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  <a:hlinkClick r:id="rId4"/>
              </a:rPr>
              <a:t>https://www.linkedin.com/in/syed-abdul-sattar-575589277</a:t>
            </a:r>
            <a:endParaRPr lang="en-GB" sz="1800" b="1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None/>
            </a:pPr>
            <a:endParaRPr lang="en-US" sz="1800" b="1" dirty="0">
              <a:solidFill>
                <a:srgbClr val="232323"/>
              </a:solidFill>
              <a:latin typeface="Arial"/>
              <a:cs typeface="Arial"/>
            </a:endParaRPr>
          </a:p>
          <a:p>
            <a:pPr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</a:rPr>
              <a:t>GitHub</a:t>
            </a:r>
            <a:r>
              <a:rPr lang="en-GB" sz="1800" b="1" dirty="0">
                <a:solidFill>
                  <a:srgbClr val="000000"/>
                </a:solidFill>
                <a:latin typeface="Arial"/>
                <a:cs typeface="Arial"/>
              </a:rPr>
              <a:t>:-</a:t>
            </a:r>
          </a:p>
          <a:p>
            <a:pPr>
              <a:buNone/>
            </a:pPr>
            <a:r>
              <a:rPr lang="en-US" sz="1800" b="1" dirty="0">
                <a:solidFill>
                  <a:srgbClr val="232323"/>
                </a:solidFill>
                <a:latin typeface="Arial"/>
                <a:cs typeface="Arial"/>
                <a:hlinkClick r:id="rId5"/>
              </a:rPr>
              <a:t>https://github.com/syed-abdul-sattar</a:t>
            </a:r>
            <a:endParaRPr lang="en-GB" sz="1800" b="1">
              <a:latin typeface="Arial"/>
              <a:cs typeface="Arial"/>
            </a:endParaRPr>
          </a:p>
          <a:p>
            <a:pPr marL="11430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44544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-8957"/>
            <a:ext cx="10515600" cy="914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  <a:latin typeface="Arial"/>
                <a:cs typeface="Arial"/>
              </a:rPr>
              <a:t>Agenda</a:t>
            </a:r>
            <a:endParaRPr lang="en-US" sz="32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76737" y="915646"/>
            <a:ext cx="10838526" cy="537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400"/>
            </a:pPr>
            <a:r>
              <a:rPr lang="en-IN" sz="2000" b="1" dirty="0"/>
              <a:t> Project Overview</a:t>
            </a:r>
            <a:endParaRPr lang="en-US" b="1" dirty="0"/>
          </a:p>
          <a:p>
            <a:pPr>
              <a:buSzPts val="2400"/>
            </a:pPr>
            <a:r>
              <a:rPr lang="en-IN" sz="2000" b="1" dirty="0"/>
              <a:t> Project Objective</a:t>
            </a:r>
            <a:endParaRPr lang="en-IN" b="1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ER Diagram &amp; Database Structure</a:t>
            </a:r>
            <a:endParaRPr lang="en-IN" b="1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Data Understanding &amp; SQL Analysis</a:t>
            </a:r>
            <a:endParaRPr lang="en-IN" b="1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Analytical Questions from the ER Model</a:t>
            </a:r>
            <a:endParaRPr lang="en-IN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Patient &amp; Appointment Demand Analysis</a:t>
            </a:r>
            <a:endParaRPr lang="en-IN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Patient Appointment Behaviour Analysis</a:t>
            </a:r>
            <a:endParaRPr lang="en-IN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Treatment Performance Analysis</a:t>
            </a:r>
            <a:endParaRPr lang="en-IN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Doctor &amp; Room Performance Analysis</a:t>
            </a:r>
            <a:endParaRPr lang="en-IN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Treatment &amp; Appointment Problem Analysis</a:t>
            </a:r>
            <a:endParaRPr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Key Insights &amp; Business Recommendations</a:t>
            </a:r>
            <a:endParaRPr lang="en-IN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Challenges &amp; Learning Experience</a:t>
            </a:r>
            <a:endParaRPr lang="en-IN" dirty="0"/>
          </a:p>
          <a:p>
            <a:pPr>
              <a:buSzPts val="2400"/>
            </a:pPr>
            <a:r>
              <a:rPr lang="en-IN" sz="2000" dirty="0"/>
              <a:t> </a:t>
            </a:r>
            <a:r>
              <a:rPr lang="en-IN" sz="2000" b="1" dirty="0"/>
              <a:t>Conclusion </a:t>
            </a:r>
            <a:endParaRPr lang="en-IN" dirty="0"/>
          </a:p>
          <a:p>
            <a:pPr marL="457200" lvl="0" indent="-431800" algn="l">
              <a:lnSpc>
                <a:spcPct val="2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0839-4FF5-3F94-8727-DA1CA6C9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025" y="25388"/>
            <a:ext cx="11129375" cy="1190176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Arial"/>
                <a:cs typeface="Arial"/>
              </a:rPr>
              <a:t>Project Overview :</a:t>
            </a:r>
            <a:br>
              <a:rPr lang="en-IN" sz="3200" b="1" dirty="0">
                <a:latin typeface="Arial"/>
                <a:cs typeface="Arial"/>
              </a:rPr>
            </a:br>
            <a:endParaRPr lang="en-US" sz="32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BB6737C-2C89-41AF-A375-B8E860429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5462" y="210457"/>
            <a:ext cx="11618300" cy="5888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rgbClr val="000000"/>
              </a:buClr>
              <a:buSzTx/>
            </a:pP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project focuses on </a:t>
            </a:r>
            <a:r>
              <a:rPr lang="en-US" sz="2000" dirty="0">
                <a:solidFill>
                  <a:schemeClr val="tx1"/>
                </a:solidFill>
              </a:rPr>
              <a:t>analyzing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hospital patient care operations using MySQL</a:t>
            </a:r>
            <a:r>
              <a:rPr lang="en-US" sz="2000" dirty="0">
                <a:solidFill>
                  <a:schemeClr val="tx1"/>
                </a:solidFill>
              </a:rPr>
              <a:t> to understand how data can support better operational decision-making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 sz="20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/>
              <a:cs typeface="Arial"/>
            </a:endParaRPr>
          </a:p>
          <a:p>
            <a:pPr algn="just">
              <a:buClr>
                <a:srgbClr val="000000"/>
              </a:buClr>
              <a:buSzTx/>
            </a:pPr>
            <a:r>
              <a:rPr lang="en-US" sz="2000" dirty="0">
                <a:solidFill>
                  <a:schemeClr val="tx1"/>
                </a:solidFill>
              </a:rPr>
              <a:t>The database represents a multi-specialty hospital environment and contains interconnected information about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patients, appointments, treatments, </a:t>
            </a:r>
            <a:r>
              <a:rPr lang="en-US" sz="2000" dirty="0">
                <a:solidFill>
                  <a:schemeClr val="tx1"/>
                </a:solidFill>
              </a:rPr>
              <a:t>doctors,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rooms.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just">
              <a:buClr>
                <a:srgbClr val="000000"/>
              </a:buClr>
              <a:buSzTx/>
            </a:pP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lang="en-US" sz="2000" dirty="0">
                <a:solidFill>
                  <a:schemeClr val="tx1"/>
                </a:solidFill>
              </a:rPr>
              <a:t>analysis covers major operational areas such as patient demand, appointment behavior, treatment outcomes, doctor workload, and room utilization. </a:t>
            </a:r>
            <a:endParaRPr lang="en-US">
              <a:solidFill>
                <a:schemeClr val="tx1"/>
              </a:solidFill>
            </a:endParaRPr>
          </a:p>
          <a:p>
            <a:pPr algn="just">
              <a:buClr>
                <a:srgbClr val="000000"/>
              </a:buClr>
              <a:buSzTx/>
            </a:pPr>
            <a:r>
              <a:rPr lang="en-US" sz="2000" dirty="0">
                <a:solidFill>
                  <a:schemeClr val="tx1"/>
                </a:solidFill>
              </a:rPr>
              <a:t>SQL is used to connect and analyze data across multiple tables using JOINs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lang="en-US" sz="2000" dirty="0">
                <a:solidFill>
                  <a:schemeClr val="tx1"/>
                </a:solidFill>
              </a:rPr>
              <a:t>filtering, aggregation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lang="en-US" sz="2000" dirty="0">
                <a:solidFill>
                  <a:schemeClr val="tx1"/>
                </a:solidFill>
              </a:rPr>
              <a:t>GROUP BY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subqueries, CTEs, and window functions.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just">
              <a:buClr>
                <a:srgbClr val="000000"/>
              </a:buClr>
              <a:buSzTx/>
            </a:pP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lang="en-US" sz="2000" dirty="0">
                <a:solidFill>
                  <a:schemeClr val="tx1"/>
                </a:solidFill>
              </a:rPr>
              <a:t>project investigates important business questions such as which cities generate higher appointment demand, how patients use hospital services, and where treatment delays or repeated attempts occur. </a:t>
            </a:r>
            <a:endParaRPr lang="en-US">
              <a:solidFill>
                <a:schemeClr val="tx1"/>
              </a:solidFill>
            </a:endParaRPr>
          </a:p>
          <a:p>
            <a:pPr algn="just">
              <a:buClr>
                <a:srgbClr val="000000"/>
              </a:buClr>
              <a:buSzTx/>
            </a:pPr>
            <a:r>
              <a:rPr lang="en-US" sz="2000" dirty="0">
                <a:solidFill>
                  <a:schemeClr val="tx1"/>
                </a:solidFill>
              </a:rPr>
              <a:t>Doctor and room activity is also analyzed to understand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workload</a:t>
            </a:r>
            <a:r>
              <a:rPr lang="en-US" sz="2000" dirty="0">
                <a:solidFill>
                  <a:schemeClr val="tx1"/>
                </a:solidFill>
              </a:rPr>
              <a:t> distribution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lang="en-US" sz="2000" dirty="0">
                <a:solidFill>
                  <a:schemeClr val="tx1"/>
                </a:solidFill>
              </a:rPr>
              <a:t>treatment duration, waiting time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lang="en-US" sz="2000" dirty="0">
                <a:solidFill>
                  <a:schemeClr val="tx1"/>
                </a:solidFill>
              </a:rPr>
              <a:t>resource utilization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just">
              <a:buClr>
                <a:srgbClr val="000000"/>
              </a:buClr>
              <a:buSzTx/>
            </a:pP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lang="en-US" sz="2000" dirty="0">
                <a:solidFill>
                  <a:schemeClr val="tx1"/>
                </a:solidFill>
              </a:rPr>
              <a:t>final objective is to transform raw hospital records into meaningful business insights that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 </a:t>
            </a:r>
            <a:r>
              <a:rPr lang="en-US" sz="2000" dirty="0">
                <a:solidFill>
                  <a:schemeClr val="tx1"/>
                </a:solidFill>
              </a:rPr>
              <a:t>support resource planning, operational improvement,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lang="en-US" sz="2000" dirty="0">
                <a:solidFill>
                  <a:schemeClr val="tx1"/>
                </a:solidFill>
              </a:rPr>
              <a:t> better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patient service management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algn="just">
              <a:buClrTx/>
              <a:buSzTx/>
            </a:pPr>
            <a:endParaRPr lang="en-US" sz="200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16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0839-4FF5-3F94-8727-DA1CA6C9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449" y="-381708"/>
            <a:ext cx="11150252" cy="167033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 </a:t>
            </a:r>
            <a:b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E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D33085-CCA1-46C3-BCD7-716508E6F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152400" y="-509135"/>
            <a:ext cx="11282362" cy="7176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00"/>
              </a:buClr>
              <a:buSzTx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Understand Patient &amp; Appointment Demand</a:t>
            </a:r>
            <a:br>
              <a:rPr lang="en-US" sz="2000" b="1" dirty="0">
                <a:latin typeface="Arial"/>
                <a:cs typeface="Arial"/>
              </a:rPr>
            </a:b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Analyze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appointment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volume across cities, service types, priorities, dates, patient types,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and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booking channels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.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buSzTx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Analyze Patient Appointment Behavior</a:t>
            </a:r>
            <a:br>
              <a:rPr lang="en-US" sz="2000" dirty="0">
                <a:latin typeface="Arial"/>
                <a:cs typeface="Arial"/>
              </a:rPr>
            </a:b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 Identify frequent patients, appointment patterns, patient segments,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and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differences in booking activity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.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buSzTx/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Evaluate Treatment Performance</a:t>
            </a:r>
            <a:br>
              <a:rPr lang="en-US" sz="2000" b="1" dirty="0">
                <a:latin typeface="Arial"/>
                <a:cs typeface="Arial"/>
              </a:rPr>
            </a:b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 Study treatment outcomes, completion rates, waiting time,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treatment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duration,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repeated attempts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, and performance trends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.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buSzTx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Measure Doctor &amp; Room Performance</a:t>
            </a:r>
            <a:br>
              <a:rPr lang="en-US" sz="2000" b="1" dirty="0">
                <a:latin typeface="Arial"/>
                <a:cs typeface="Arial"/>
              </a:rPr>
            </a:b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 Analyze doctor workload, treatment outcomes, treatment duration, room utilization,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and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resource usage.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buSzTx/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Identify Treatment &amp; Appointment Problems</a:t>
            </a:r>
            <a:br>
              <a:rPr lang="en-US" sz="2000" b="1" dirty="0">
                <a:latin typeface="Arial"/>
                <a:cs typeface="Arial"/>
              </a:rPr>
            </a:b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 Detect cancellations, no-shows, rescheduled appointments, repeated treatment attempts,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and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areas with higher waiting or problem rates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. 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buSzTx/>
              <a:buFont typeface="Arial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rial"/>
                <a:cs typeface="Arial"/>
              </a:rPr>
              <a:t>Generate Business Insights</a:t>
            </a:r>
            <a:br>
              <a:rPr lang="en-US" sz="2000" b="1" dirty="0">
                <a:latin typeface="Arial"/>
                <a:cs typeface="Arial"/>
              </a:rPr>
            </a:b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 Convert SQL analysis into practical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insights that can help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the hospital understand demand,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improve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resource allocation,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and </a:t>
            </a:r>
            <a:r>
              <a:rPr lang="en-US" sz="2000" dirty="0">
                <a:solidFill>
                  <a:schemeClr val="tx1"/>
                </a:solidFill>
                <a:latin typeface="Arial"/>
                <a:cs typeface="Arial"/>
              </a:rPr>
              <a:t>identify operational areas requiring attention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/>
                <a:cs typeface="Arial"/>
              </a:rPr>
              <a:t>.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pPr marR="0" lvl="0" defTabSz="914400">
              <a:buClr>
                <a:srgbClr val="000000"/>
              </a:buClr>
              <a:buSzTx/>
              <a:buFont typeface="Arial"/>
              <a:buChar char="•"/>
              <a:tabLst/>
            </a:pPr>
            <a:endParaRPr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4429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4E73C-CD18-0D81-B07F-52328256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0" y="-330607"/>
            <a:ext cx="11625567" cy="944518"/>
          </a:xfrm>
        </p:spPr>
        <p:txBody>
          <a:bodyPr>
            <a:normAutofit fontScale="90000"/>
          </a:bodyPr>
          <a:lstStyle/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br>
              <a:rPr lang="en-IN" sz="3600" dirty="0">
                <a:solidFill>
                  <a:srgbClr val="FF0000"/>
                </a:solidFill>
                <a:latin typeface="Times New Roman"/>
                <a:cs typeface="Times New Roman"/>
              </a:rPr>
            </a:br>
            <a:r>
              <a:rPr lang="en-IN" sz="3600" dirty="0">
                <a:solidFill>
                  <a:srgbClr val="FF0000"/>
                </a:solidFill>
                <a:latin typeface="Times New Roman"/>
                <a:cs typeface="Times New Roman"/>
              </a:rPr>
              <a:t>      Database Structure :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666A4-0A7C-E0C0-5083-EDA37EE7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769" y="1386348"/>
            <a:ext cx="11051458" cy="4790615"/>
          </a:xfrm>
        </p:spPr>
        <p:txBody>
          <a:bodyPr>
            <a:normAutofit/>
          </a:bodyPr>
          <a:lstStyle/>
          <a:p>
            <a:endParaRPr lang="en-AE" dirty="0"/>
          </a:p>
          <a:p>
            <a:endParaRPr lang="en-AE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11012D9-F04B-415C-B1B1-4C27C3DFB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1" y="740775"/>
            <a:ext cx="11818677" cy="6808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hospital database consists of five interconnected relational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tables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+mj-lt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Patients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 Stores patient details such as patient ID, name, age, gender, city, patient type, preferred time slot, and registration date.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+mj-lt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Appointments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 Records appointment details including appointment date, patient, doctor, service type, priority, estimated cost, and booking channel.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+mj-lt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Treatments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 Stores treatment information such as treatment date, doctor, room, status, treatment attempts, duration, waiting time, and treatment cost.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+mj-lt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Doctors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 Contains doctor details including </a:t>
            </a:r>
            <a:r>
              <a:rPr lang="en-US" sz="2000" dirty="0" err="1">
                <a:solidFill>
                  <a:schemeClr val="tx1"/>
                </a:solidFill>
              </a:rPr>
              <a:t>speciality</a:t>
            </a:r>
            <a:r>
              <a:rPr lang="en-US" sz="2000" dirty="0">
                <a:solidFill>
                  <a:schemeClr val="tx1"/>
                </a:solidFill>
              </a:rPr>
              <a:t>, hire date, rating, employment type, and active status.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+mj-lt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Rooms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 Stores room information such as room type, floor, equipment type, capacity, maintenance date, and availability.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Primary </a:t>
            </a:r>
            <a:r>
              <a:rPr lang="en-US" sz="2000" b="1" dirty="0">
                <a:solidFill>
                  <a:schemeClr val="tx1"/>
                </a:solidFill>
              </a:rPr>
              <a:t>keys </a:t>
            </a:r>
            <a:r>
              <a:rPr lang="en-US" sz="2000" dirty="0">
                <a:solidFill>
                  <a:schemeClr val="tx1"/>
                </a:solidFill>
              </a:rPr>
              <a:t>and </a:t>
            </a:r>
            <a:r>
              <a:rPr lang="en-US" sz="2000" b="1" dirty="0">
                <a:solidFill>
                  <a:schemeClr val="tx1"/>
                </a:solidFill>
              </a:rPr>
              <a:t>foreign keys </a:t>
            </a:r>
            <a:r>
              <a:rPr lang="en-US" sz="2000" dirty="0">
                <a:solidFill>
                  <a:schemeClr val="tx1"/>
                </a:solidFill>
              </a:rPr>
              <a:t>connect the tables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maintain </a:t>
            </a:r>
            <a:r>
              <a:rPr lang="en-US" sz="2000" dirty="0">
                <a:solidFill>
                  <a:schemeClr val="tx1"/>
                </a:solidFill>
              </a:rPr>
              <a:t>relationships between the hospital's operational records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These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relationships </a:t>
            </a:r>
            <a:r>
              <a:rPr lang="en-US" sz="2000" dirty="0">
                <a:solidFill>
                  <a:schemeClr val="tx1"/>
                </a:solidFill>
              </a:rPr>
              <a:t>allow analysis across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lang="en-US" sz="2000" dirty="0">
                <a:solidFill>
                  <a:schemeClr val="tx1"/>
                </a:solidFill>
              </a:rPr>
              <a:t>complete flow of patients →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appointments</a:t>
            </a:r>
            <a:r>
              <a:rPr lang="en-US" sz="2000" dirty="0">
                <a:solidFill>
                  <a:schemeClr val="tx1"/>
                </a:solidFill>
              </a:rPr>
              <a:t> → treatments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lang="en-US" sz="2000" dirty="0">
                <a:solidFill>
                  <a:schemeClr val="tx1"/>
                </a:solidFill>
              </a:rPr>
              <a:t>while also connecting doctors and rooms to 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treatment </a:t>
            </a:r>
            <a:r>
              <a:rPr lang="en-US" sz="2000" dirty="0">
                <a:solidFill>
                  <a:schemeClr val="tx1"/>
                </a:solidFill>
              </a:rPr>
              <a:t>activities</a:t>
            </a:r>
            <a:r>
              <a:rPr kumimoji="0" 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0" marR="0" lvl="0" indent="0" algn="l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232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5EED3-B30A-BC78-0F7E-CD859EE1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05"/>
            <a:ext cx="3271684" cy="74635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 </a:t>
            </a:r>
            <a:endParaRPr lang="en-AE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9B85BA-BE4D-3FCE-24C8-E3D27A54D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600364"/>
            <a:ext cx="10955942" cy="5622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376B7A-F1EE-987F-2AA1-4315B342ED40}"/>
              </a:ext>
            </a:extLst>
          </p:cNvPr>
          <p:cNvSpPr txBox="1"/>
          <p:nvPr/>
        </p:nvSpPr>
        <p:spPr>
          <a:xfrm>
            <a:off x="8795" y="6329101"/>
            <a:ext cx="852107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/>
              <a:t>Relationships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sz="1600" dirty="0"/>
              <a:t>Patients are connected to Appointments, Appointments are connected to Treatments, while Doctors and Rooms are linked to treatment activities through foreign keys.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54001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8F158-9D18-3F73-8366-123497343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111"/>
            <a:ext cx="10515600" cy="574001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Section 1 — Basic SQL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9FE9E-5C57-1B30-5328-F979D6C4C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4968" y="1230639"/>
            <a:ext cx="5797461" cy="49463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1. What is the total number of patients?</a:t>
            </a:r>
            <a:endParaRPr lang="en-US" sz="24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9C676-F1F7-F063-296B-D95535F1DA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9133" y="1230639"/>
            <a:ext cx="6079296" cy="494632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2. What is the total number of appointments?</a:t>
            </a:r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BBF698-07B6-29D1-35C3-D2C0F0918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49" y="1721156"/>
            <a:ext cx="7032190" cy="1140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2999C0-858E-0A68-2442-C4409543F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12" y="1717175"/>
            <a:ext cx="5295900" cy="981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92C9C7-94C9-BAFC-25E8-1CEA8B05F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40" y="2695381"/>
            <a:ext cx="4931210" cy="26676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8BE105-B89C-D30C-DB85-019A51F8D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916" y="2685854"/>
            <a:ext cx="5147153" cy="20082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6CE4CF-2E8F-C04F-7583-69DEB2B2BC29}"/>
              </a:ext>
            </a:extLst>
          </p:cNvPr>
          <p:cNvSpPr txBox="1"/>
          <p:nvPr/>
        </p:nvSpPr>
        <p:spPr>
          <a:xfrm>
            <a:off x="304832" y="5849132"/>
            <a:ext cx="5801636" cy="344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9ABA3F-AAE6-944E-5DEE-73DA593FBFDA}"/>
              </a:ext>
            </a:extLst>
          </p:cNvPr>
          <p:cNvSpPr txBox="1"/>
          <p:nvPr/>
        </p:nvSpPr>
        <p:spPr>
          <a:xfrm>
            <a:off x="327271" y="5608241"/>
            <a:ext cx="581650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br>
              <a:rPr lang="en-GB" sz="2000" b="1" dirty="0"/>
            </a:br>
            <a:r>
              <a:rPr lang="en-GB" b="1" dirty="0"/>
              <a:t> </a:t>
            </a:r>
            <a:r>
              <a:rPr lang="en-GB" sz="2000" dirty="0"/>
              <a:t>Counts all records in the patients table to determine the total number of registered patients.</a:t>
            </a:r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49865-83A5-5EFC-9EBC-4C93B6D176A0}"/>
              </a:ext>
            </a:extLst>
          </p:cNvPr>
          <p:cNvSpPr txBox="1"/>
          <p:nvPr/>
        </p:nvSpPr>
        <p:spPr>
          <a:xfrm>
            <a:off x="6488546" y="5002512"/>
            <a:ext cx="554067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</a:t>
            </a:r>
            <a:r>
              <a:rPr lang="en-GB" b="1" dirty="0"/>
              <a:t>:</a:t>
            </a:r>
            <a:br>
              <a:rPr lang="en-GB" b="1" dirty="0"/>
            </a:br>
            <a:r>
              <a:rPr lang="en-GB" b="1" dirty="0"/>
              <a:t> </a:t>
            </a:r>
            <a:r>
              <a:rPr lang="en-GB" sz="2000" dirty="0"/>
              <a:t>Counts all records in the appointments table to measure the total appointment volume in the hospital database.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10255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6582-E134-545C-F48C-C36AD78C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F18A7-6368-5E86-43BF-28615133F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111"/>
            <a:ext cx="10515600" cy="574001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Section 1 — Basic SQL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0EADC-F5DA-B4C3-448B-C1A3D6A0C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147" y="1188886"/>
            <a:ext cx="5922720" cy="49985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3. What is the total number of treatment records?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6E777B-D01C-DA9F-380A-ADFE07E97F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9133" y="1220201"/>
            <a:ext cx="6089734" cy="49672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4. What are the different medical service types?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44009-39DE-C5E9-50FE-515BE4EE9A45}"/>
              </a:ext>
            </a:extLst>
          </p:cNvPr>
          <p:cNvSpPr txBox="1"/>
          <p:nvPr/>
        </p:nvSpPr>
        <p:spPr>
          <a:xfrm>
            <a:off x="304832" y="5849132"/>
            <a:ext cx="5801636" cy="344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DA0B96-3F87-D007-3725-B3CA14EAE4AC}"/>
              </a:ext>
            </a:extLst>
          </p:cNvPr>
          <p:cNvSpPr txBox="1"/>
          <p:nvPr/>
        </p:nvSpPr>
        <p:spPr>
          <a:xfrm>
            <a:off x="306395" y="5295091"/>
            <a:ext cx="580606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Counts all records in the </a:t>
            </a:r>
            <a:r>
              <a:rPr lang="en-GB" sz="2000" dirty="0">
                <a:latin typeface="Consolas"/>
              </a:rPr>
              <a:t>treatments</a:t>
            </a:r>
            <a:r>
              <a:rPr lang="en-GB" sz="2000" dirty="0"/>
              <a:t> table to determine the total number of treatment records stored in the database. </a:t>
            </a:r>
            <a:br>
              <a:rPr lang="en-GB" sz="2000" b="1" dirty="0"/>
            </a:br>
            <a:r>
              <a:rPr lang="en-GB" b="1" dirty="0"/>
              <a:t> </a:t>
            </a:r>
            <a:endParaRPr lang="en-GB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90C4F-2EAA-E31B-CC1C-EF608792DE26}"/>
              </a:ext>
            </a:extLst>
          </p:cNvPr>
          <p:cNvSpPr txBox="1"/>
          <p:nvPr/>
        </p:nvSpPr>
        <p:spPr>
          <a:xfrm>
            <a:off x="6488546" y="5002512"/>
            <a:ext cx="554067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</a:t>
            </a:r>
            <a:r>
              <a:rPr lang="en-GB" b="1" dirty="0"/>
              <a:t>:</a:t>
            </a:r>
            <a:endParaRPr lang="en-GB" sz="2000" dirty="0"/>
          </a:p>
          <a:p>
            <a:r>
              <a:rPr lang="en-GB" sz="2000" dirty="0"/>
              <a:t>Uses DISTINCT to display each unique service type available in the appointments table without repeating duplicate values.</a:t>
            </a:r>
            <a:br>
              <a:rPr lang="en-GB" sz="2000" b="1" dirty="0"/>
            </a:br>
            <a:r>
              <a:rPr lang="en-GB" sz="2000" b="1" dirty="0"/>
              <a:t> </a:t>
            </a:r>
            <a:endParaRPr lang="en-GB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34F7F-8F88-4396-B1F7-1E33D8CD2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45" y="2103393"/>
            <a:ext cx="5353050" cy="981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444808-358B-12C0-586C-F6B562A37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86" y="3272424"/>
            <a:ext cx="4763543" cy="17432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E64B86-BF33-46C0-2A2C-4706AA59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313" y="2103981"/>
            <a:ext cx="5810250" cy="666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00118D-2A28-5B74-221F-77FAAEB70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8199" y="2884183"/>
            <a:ext cx="3786644" cy="21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2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AD8D-EA04-A84B-0F32-1D369B1E5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E0986-7EB1-F3D5-F2F6-E09EB86B7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111"/>
            <a:ext cx="10515600" cy="574001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Section 1 — Basic SQL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D3068-E681-ACB4-D1C7-C6DFC6AE6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147" y="1188886"/>
            <a:ext cx="5922720" cy="49985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5. How many doctors are currently active?</a:t>
            </a: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9AB0E-C3E2-01BA-428D-1FBA4883588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9133" y="1220201"/>
            <a:ext cx="6089734" cy="49672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6. What are the different room types?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09A01-54DB-7287-759B-ED0DF57D445F}"/>
              </a:ext>
            </a:extLst>
          </p:cNvPr>
          <p:cNvSpPr txBox="1"/>
          <p:nvPr/>
        </p:nvSpPr>
        <p:spPr>
          <a:xfrm>
            <a:off x="304832" y="5849132"/>
            <a:ext cx="5801636" cy="344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A5D221-CE8B-CE48-DF6F-08D8B79B2C51}"/>
              </a:ext>
            </a:extLst>
          </p:cNvPr>
          <p:cNvSpPr txBox="1"/>
          <p:nvPr/>
        </p:nvSpPr>
        <p:spPr>
          <a:xfrm>
            <a:off x="285519" y="4564407"/>
            <a:ext cx="5816504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Counts the doctors whose </a:t>
            </a:r>
            <a:r>
              <a:rPr lang="en-GB" sz="2000" dirty="0" err="1"/>
              <a:t>is_active</a:t>
            </a:r>
            <a:r>
              <a:rPr lang="en-GB" sz="2000" dirty="0"/>
              <a:t> status is set to yes to determine the number of currently active doctors in the database.</a:t>
            </a:r>
            <a:endParaRPr lang="en-GB"/>
          </a:p>
          <a:p>
            <a:r>
              <a:rPr lang="en-GB" b="1" dirty="0"/>
              <a:t> 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45803-77D4-44F5-74FD-7FB331B5C8C9}"/>
              </a:ext>
            </a:extLst>
          </p:cNvPr>
          <p:cNvSpPr txBox="1"/>
          <p:nvPr/>
        </p:nvSpPr>
        <p:spPr>
          <a:xfrm>
            <a:off x="6488546" y="5002512"/>
            <a:ext cx="5540678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</a:t>
            </a:r>
            <a:r>
              <a:rPr lang="en-GB" b="1" dirty="0"/>
              <a:t>:</a:t>
            </a:r>
            <a:endParaRPr lang="en-GB" sz="2000" dirty="0"/>
          </a:p>
          <a:p>
            <a:r>
              <a:rPr lang="en-GB" sz="2000" dirty="0"/>
              <a:t>Uses DISTINCT to identify each unique room type available in the hospital without displaying duplicate values.</a:t>
            </a:r>
            <a:br>
              <a:rPr lang="en-GB" sz="2000" b="1" dirty="0"/>
            </a:br>
            <a:r>
              <a:rPr lang="en-GB" sz="2000" b="1" dirty="0"/>
              <a:t> 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29A87-2EAE-C0E3-AEE6-3E0AFBFBD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14" y="1712804"/>
            <a:ext cx="4695825" cy="781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373F3D-49FC-0C03-9EC5-021E1A86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40" y="1865529"/>
            <a:ext cx="5543550" cy="809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50DF27-0996-3904-FB5E-C1DC8E11E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82" y="2859523"/>
            <a:ext cx="4016940" cy="1587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5204DB-796F-1EF6-3205-4250A8516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547" y="2542653"/>
            <a:ext cx="4465398" cy="203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31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58E2-466D-5A49-8A08-3C33CE67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9B644-D468-E49D-C296-FEBD2590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111"/>
            <a:ext cx="10515600" cy="574001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</a:rPr>
              <a:t>Section 1 — Basic SQL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CB4C8-AD57-E4B9-3978-43A238090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147" y="1188886"/>
            <a:ext cx="5922720" cy="499851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7. What is the total estimated appointment value?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68B0B-9EA7-1DBE-F52F-ED11095CFAD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9133" y="1220201"/>
            <a:ext cx="6089734" cy="49672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400" dirty="0"/>
              <a:t>8. What is the average treatment duration?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DF29C-021E-2DFB-D18E-06560741B1EA}"/>
              </a:ext>
            </a:extLst>
          </p:cNvPr>
          <p:cNvSpPr txBox="1"/>
          <p:nvPr/>
        </p:nvSpPr>
        <p:spPr>
          <a:xfrm>
            <a:off x="304832" y="5849132"/>
            <a:ext cx="5801636" cy="344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402077-721D-C1A9-7EB5-73FEBAF6873F}"/>
              </a:ext>
            </a:extLst>
          </p:cNvPr>
          <p:cNvSpPr txBox="1"/>
          <p:nvPr/>
        </p:nvSpPr>
        <p:spPr>
          <a:xfrm>
            <a:off x="275081" y="4647914"/>
            <a:ext cx="5816504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Calculates the total estimated value of all appointments by adding the </a:t>
            </a:r>
            <a:r>
              <a:rPr lang="en-GB" sz="2000" dirty="0" err="1">
                <a:latin typeface="Consolas"/>
              </a:rPr>
              <a:t>estimated_cost</a:t>
            </a:r>
            <a:r>
              <a:rPr lang="en-GB" sz="2000" dirty="0"/>
              <a:t> of every appointment.</a:t>
            </a:r>
            <a:endParaRPr lang="en-GB" dirty="0"/>
          </a:p>
          <a:p>
            <a:r>
              <a:rPr lang="en-GB" b="1" dirty="0"/>
              <a:t> </a:t>
            </a:r>
            <a:endParaRPr lang="en-GB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4E483-4A5A-B8C2-EB2A-CAE31E5782F7}"/>
              </a:ext>
            </a:extLst>
          </p:cNvPr>
          <p:cNvSpPr txBox="1"/>
          <p:nvPr/>
        </p:nvSpPr>
        <p:spPr>
          <a:xfrm>
            <a:off x="6112766" y="5002512"/>
            <a:ext cx="5916458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</a:t>
            </a:r>
            <a:r>
              <a:rPr lang="en-GB" b="1" dirty="0"/>
              <a:t>:</a:t>
            </a:r>
            <a:endParaRPr lang="en-GB" sz="2000" dirty="0"/>
          </a:p>
          <a:p>
            <a:r>
              <a:rPr lang="en-GB" sz="2000" dirty="0"/>
              <a:t>Calculates the average time taken to complete treatments using the </a:t>
            </a:r>
            <a:r>
              <a:rPr lang="en-GB" sz="2000" dirty="0" err="1">
                <a:latin typeface="Consolas"/>
              </a:rPr>
              <a:t>treatment_duration_min</a:t>
            </a:r>
            <a:r>
              <a:rPr lang="en-GB" sz="2000" dirty="0"/>
              <a:t> column.</a:t>
            </a:r>
            <a:r>
              <a:rPr lang="en-GB" sz="2000" b="1" dirty="0"/>
              <a:t> 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0169F-5E45-19F4-6A07-CAA7D9EA0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446" y="1697602"/>
            <a:ext cx="5857875" cy="10724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ECB910-F06B-E8ED-6167-72B9B06AA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070" y="2919413"/>
            <a:ext cx="4391285" cy="16350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E83B369-C97D-E7E0-54CC-00BD17C09C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054" y="2922349"/>
            <a:ext cx="5110358" cy="13473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F7CD97-0463-4AD8-BCD0-23ACEE0DE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445" y="1999402"/>
            <a:ext cx="57150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2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14923-1D1A-9E2A-D53E-67ABC2741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423"/>
            <a:ext cx="10515600" cy="134644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Section 2 — Objective-Based Analysis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75B0B-2ECB-8E10-F379-6B58FA6A190C}"/>
              </a:ext>
            </a:extLst>
          </p:cNvPr>
          <p:cNvSpPr txBox="1"/>
          <p:nvPr/>
        </p:nvSpPr>
        <p:spPr>
          <a:xfrm>
            <a:off x="535534" y="1219829"/>
            <a:ext cx="10234669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The analysis is organized around five key business objectives:</a:t>
            </a:r>
            <a:endParaRPr lang="en-US" sz="2000" dirty="0"/>
          </a:p>
          <a:p>
            <a:endParaRPr lang="en-GB" sz="2000" b="1" dirty="0"/>
          </a:p>
          <a:p>
            <a:pPr marL="285750" indent="-285750">
              <a:buChar char="•"/>
            </a:pPr>
            <a:r>
              <a:rPr lang="en-GB" sz="2000" b="1" dirty="0"/>
              <a:t>Patient &amp; Appointment Demand</a:t>
            </a:r>
            <a:br>
              <a:rPr lang="en-GB" sz="2000" b="1" dirty="0"/>
            </a:br>
            <a:r>
              <a:rPr lang="en-GB" sz="2000" b="1" dirty="0"/>
              <a:t> </a:t>
            </a:r>
            <a:r>
              <a:rPr lang="en-GB" sz="2000" dirty="0"/>
              <a:t>Understand appointment volume, service demand, patient types, and booking channels. </a:t>
            </a:r>
          </a:p>
          <a:p>
            <a:pPr marL="285750" indent="-285750">
              <a:buChar char="•"/>
            </a:pPr>
            <a:r>
              <a:rPr lang="en-GB" sz="2000" b="1" dirty="0"/>
              <a:t>Patient Appointment Behaviour</a:t>
            </a:r>
            <a:br>
              <a:rPr lang="en-GB" sz="2000" b="1" dirty="0"/>
            </a:br>
            <a:r>
              <a:rPr lang="en-GB" sz="2000" b="1" dirty="0"/>
              <a:t> </a:t>
            </a:r>
            <a:r>
              <a:rPr lang="en-GB" sz="2000" dirty="0"/>
              <a:t>Identify frequent patients, appointment patterns, patient segments, and booking activity. </a:t>
            </a:r>
          </a:p>
          <a:p>
            <a:pPr marL="285750" indent="-285750">
              <a:buChar char="•"/>
            </a:pPr>
            <a:r>
              <a:rPr lang="en-GB" sz="2000" b="1" dirty="0"/>
              <a:t>Treatment Performance</a:t>
            </a:r>
            <a:br>
              <a:rPr lang="en-GB" sz="2000" b="1" dirty="0"/>
            </a:br>
            <a:r>
              <a:rPr lang="en-GB" sz="2000" b="1" dirty="0"/>
              <a:t> </a:t>
            </a:r>
            <a:r>
              <a:rPr lang="en-GB" sz="2000" dirty="0"/>
              <a:t>Evaluate treatment outcomes, waiting time, treatment duration, and repeated attempts. </a:t>
            </a:r>
          </a:p>
          <a:p>
            <a:pPr marL="285750" indent="-285750">
              <a:buChar char="•"/>
            </a:pPr>
            <a:r>
              <a:rPr lang="en-GB" sz="2000" b="1" dirty="0"/>
              <a:t>Doctor &amp; Room Performance</a:t>
            </a:r>
            <a:br>
              <a:rPr lang="en-GB" sz="2000" b="1" dirty="0"/>
            </a:br>
            <a:r>
              <a:rPr lang="en-GB" sz="2000" b="1" dirty="0"/>
              <a:t> </a:t>
            </a:r>
            <a:r>
              <a:rPr lang="en-GB" sz="2000" dirty="0" err="1"/>
              <a:t>Analyze</a:t>
            </a:r>
            <a:r>
              <a:rPr lang="en-GB" sz="2000" dirty="0"/>
              <a:t> doctor workload, treatment activity, room utilization, and resource usage. </a:t>
            </a:r>
          </a:p>
          <a:p>
            <a:pPr marL="285750" indent="-285750">
              <a:buChar char="•"/>
            </a:pPr>
            <a:r>
              <a:rPr lang="en-GB" sz="2000" b="1" dirty="0"/>
              <a:t>Treatment &amp; Appointment Problems</a:t>
            </a:r>
            <a:br>
              <a:rPr lang="en-GB" sz="2000" b="1" dirty="0"/>
            </a:br>
            <a:r>
              <a:rPr lang="en-GB" sz="2000" dirty="0"/>
              <a:t> Identify cancellations, no-shows, rescheduling, repeated attempts, and higher waiting/problem areas.</a:t>
            </a:r>
          </a:p>
          <a:p>
            <a:pPr algn="l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23105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8B3C-E0D7-32D9-F78B-0E44B380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98" y="-218"/>
            <a:ext cx="11006202" cy="720139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OBJECTIVE 4.1 — Patient &amp; Appointment Demand</a:t>
            </a:r>
            <a:endParaRPr lang="en-US" sz="280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8CD8-AF37-F0FC-3475-21E953B49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269" y="719160"/>
            <a:ext cx="5922722" cy="545780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1. Compare appointment volume across cities.</a:t>
            </a:r>
            <a:endParaRPr lang="en-US" sz="2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42120-DEA2-1678-FF94-35F6DBC6D4E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20009" y="708721"/>
            <a:ext cx="5922722" cy="546824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2. Compare appointments across service types and priorities.</a:t>
            </a:r>
            <a:endParaRPr lang="en-US" sz="2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C6D221-2888-B472-8BA0-FE109ED08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03" y="2533585"/>
            <a:ext cx="4140113" cy="24484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8CB4B5-1523-E3C1-ED0B-AA6AF4E94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330" y="1530195"/>
            <a:ext cx="5568079" cy="10105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289BA9-48FF-0C9F-4ABD-AF44A2303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254" y="2605741"/>
            <a:ext cx="5197518" cy="23145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36BE33A-3D3D-EB20-9C2A-280A38BD62F7}"/>
              </a:ext>
            </a:extLst>
          </p:cNvPr>
          <p:cNvSpPr txBox="1"/>
          <p:nvPr/>
        </p:nvSpPr>
        <p:spPr>
          <a:xfrm>
            <a:off x="133884" y="5266094"/>
            <a:ext cx="606939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Counts appointments for each city by joining the Patients and Appointments tables, helping compare appointment demand across cities</a:t>
            </a:r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493F1B-FB51-0E57-127E-0A93B2DE785D}"/>
              </a:ext>
            </a:extLst>
          </p:cNvPr>
          <p:cNvSpPr txBox="1"/>
          <p:nvPr/>
        </p:nvSpPr>
        <p:spPr>
          <a:xfrm>
            <a:off x="6464796" y="4984008"/>
            <a:ext cx="5435982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Groups appointments by service type and priority to show which combinations have the highest appointment demand.</a:t>
            </a:r>
            <a:endParaRPr lang="en-GB" dirty="0"/>
          </a:p>
          <a:p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90AEE-753A-8DA8-0703-3CAC79691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39" y="1146197"/>
            <a:ext cx="5930942" cy="139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92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ADCAD9-E5ED-EA49-DF7A-786BEEAE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306" y="781790"/>
            <a:ext cx="11987407" cy="539517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Q3: Calculate monthly appointment volume and month-over-month percentage change.</a:t>
            </a:r>
            <a:endParaRPr lang="en-US" sz="220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EE3EE7D-8B65-3D92-76F2-B135020FA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" y="239865"/>
            <a:ext cx="11340229" cy="866274"/>
          </a:xfrm>
        </p:spPr>
        <p:txBody>
          <a:bodyPr/>
          <a:lstStyle/>
          <a:p>
            <a:r>
              <a:rPr lang="en-GB" sz="2800" dirty="0">
                <a:solidFill>
                  <a:srgbClr val="FF0000"/>
                </a:solidFill>
              </a:rPr>
              <a:t>OBJECTIVE 4.1 — Patient &amp; Appointment Demand </a:t>
            </a:r>
            <a:br>
              <a:rPr lang="en-GB" sz="2800" dirty="0">
                <a:solidFill>
                  <a:srgbClr val="FF0000"/>
                </a:solidFill>
              </a:rPr>
            </a:br>
            <a:r>
              <a:rPr lang="en-GB" sz="2800" dirty="0">
                <a:solidFill>
                  <a:srgbClr val="FF0000"/>
                </a:solidFill>
              </a:rPr>
              <a:t>Student-Developed Advanced Analysis</a:t>
            </a:r>
            <a:endParaRPr lang="en-GB" sz="2800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404655-78C3-F5AA-A464-4099135C1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44" y="1279677"/>
            <a:ext cx="11750065" cy="25136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5FE18B-BD8E-F177-69DE-3CBCF0BC5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13" y="3881569"/>
            <a:ext cx="7706247" cy="28839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A44914-3BB9-DE27-F54B-968D078A36A3}"/>
              </a:ext>
            </a:extLst>
          </p:cNvPr>
          <p:cNvSpPr txBox="1"/>
          <p:nvPr/>
        </p:nvSpPr>
        <p:spPr>
          <a:xfrm>
            <a:off x="8190408" y="3782682"/>
            <a:ext cx="378787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br>
              <a:rPr lang="en-GB" b="1" dirty="0"/>
            </a:br>
            <a:r>
              <a:rPr lang="en-GB" sz="2000" dirty="0"/>
              <a:t>Calculates monthly appointment volume and uses </a:t>
            </a:r>
            <a:r>
              <a:rPr lang="en-GB" sz="2000" dirty="0">
                <a:latin typeface="Consolas"/>
              </a:rPr>
              <a:t>LAG()</a:t>
            </a:r>
            <a:r>
              <a:rPr lang="en-GB" sz="2000" dirty="0"/>
              <a:t> to compare each month with the previous month.</a:t>
            </a:r>
          </a:p>
          <a:p>
            <a:r>
              <a:rPr lang="en-GB" sz="2000" dirty="0"/>
              <a:t>It helps identify periods of increasing or declining appointment demand.</a:t>
            </a:r>
            <a:endParaRPr lang="en-GB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533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7782-15DF-6BCD-71FC-FE13A6A6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26701-3B15-6357-FE0A-AD4353794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269" y="541708"/>
            <a:ext cx="11830832" cy="56352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200" dirty="0"/>
              <a:t>Advanced Q4: Identify the dominant priority for each service type and calculate its percentage of that  service's appointments.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591BA91-9411-1B35-3818-1F023237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" y="-217"/>
            <a:ext cx="11350667" cy="1106356"/>
          </a:xfrm>
        </p:spPr>
        <p:txBody>
          <a:bodyPr/>
          <a:lstStyle/>
          <a:p>
            <a:r>
              <a:rPr lang="en-GB" sz="2800">
                <a:solidFill>
                  <a:srgbClr val="FF0000"/>
                </a:solidFill>
              </a:rPr>
              <a:t>OBJECTIVE 4.1 — Patient &amp; Appointment Demand </a:t>
            </a:r>
            <a:endParaRPr lang="en-GB" sz="280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FBEA8-74AE-75EB-3669-92635EB40C78}"/>
              </a:ext>
            </a:extLst>
          </p:cNvPr>
          <p:cNvSpPr txBox="1"/>
          <p:nvPr/>
        </p:nvSpPr>
        <p:spPr>
          <a:xfrm>
            <a:off x="7584983" y="3960135"/>
            <a:ext cx="441417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br>
              <a:rPr lang="en-GB" b="1" dirty="0"/>
            </a:br>
            <a:r>
              <a:rPr lang="en-GB" sz="2000" dirty="0"/>
              <a:t>Identifies the most common priority level for each service type using ranking within each service. It also calculates what percentage of that service’s appointments belong to the dominant priority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8AB002-0B02-61A9-8A40-B4705E2CC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50" y="1270153"/>
            <a:ext cx="10577186" cy="2543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10BB3D-3451-647E-91D8-1E757D1F4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51" y="3950527"/>
            <a:ext cx="7108650" cy="276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496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B628E-32B4-509C-F370-A2EC8679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851CA-97E4-CE29-58D7-65770B18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98" y="-218"/>
            <a:ext cx="11006202" cy="720139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OBJECTIVE 4.2 — Patient Appointment Behaviour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FF41A-312C-B0B5-6A42-D1A11D4B5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269" y="719160"/>
            <a:ext cx="5922722" cy="545780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1. Compare patients by number of appointments.</a:t>
            </a:r>
            <a:endParaRPr lang="en-US" sz="2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F6F16-A72A-4A34-B4F4-6CE5BC4A5F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20009" y="708721"/>
            <a:ext cx="5922722" cy="546824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2. Identify patients with higher cumulative estimated appointment value.</a:t>
            </a:r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0ACFF-F218-B059-6B7C-8F72B7FE6816}"/>
              </a:ext>
            </a:extLst>
          </p:cNvPr>
          <p:cNvSpPr txBox="1"/>
          <p:nvPr/>
        </p:nvSpPr>
        <p:spPr>
          <a:xfrm>
            <a:off x="133884" y="5266094"/>
            <a:ext cx="606939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Counts the number of appointments for each patient and sorts the results to identify patients with the highest appointment activity.</a:t>
            </a:r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B76E7-E2EF-7E27-DDA8-7F01EACE6D0E}"/>
              </a:ext>
            </a:extLst>
          </p:cNvPr>
          <p:cNvSpPr txBox="1"/>
          <p:nvPr/>
        </p:nvSpPr>
        <p:spPr>
          <a:xfrm>
            <a:off x="6464796" y="4984008"/>
            <a:ext cx="5435982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Calculates the cumulative estimated appointment value for each patient and sorts the results to identify patients with higher estimated value.</a:t>
            </a: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F6DD6-119B-3A9A-ACFB-D97D7B1D1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" y="1217635"/>
            <a:ext cx="5983526" cy="120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CF9E65-921C-5A41-9DC1-DF68B49B1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910" y="1413026"/>
            <a:ext cx="6113744" cy="8691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62B3E9-AED2-98D5-0BE0-035A07D18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20" y="2527517"/>
            <a:ext cx="4097444" cy="24605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2DF8C4-A49B-8D5B-EBEA-4DB58975D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8519" y="2293113"/>
            <a:ext cx="4463702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8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80D18-A273-F061-DB37-3321306C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C417B-0C19-7768-316D-DE9018253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306" y="781790"/>
            <a:ext cx="11987407" cy="539517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Q3: Rank patients by cumulative estimated appointment value within each patient type</a:t>
            </a: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1DFE288-3474-A170-13C4-CC09962D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" y="239865"/>
            <a:ext cx="11340229" cy="866274"/>
          </a:xfrm>
        </p:spPr>
        <p:txBody>
          <a:bodyPr/>
          <a:lstStyle/>
          <a:p>
            <a:r>
              <a:rPr lang="en-GB" sz="2800" dirty="0">
                <a:solidFill>
                  <a:srgbClr val="FF0000"/>
                </a:solidFill>
              </a:rPr>
              <a:t>OBJECTIVE 4.2 — Patient  Appointment Behaviour</a:t>
            </a:r>
            <a:br>
              <a:rPr lang="en-GB" sz="2800" dirty="0">
                <a:solidFill>
                  <a:srgbClr val="FF0000"/>
                </a:solidFill>
              </a:rPr>
            </a:br>
            <a:r>
              <a:rPr lang="en-GB" sz="2800" dirty="0">
                <a:solidFill>
                  <a:srgbClr val="FF0000"/>
                </a:solidFill>
              </a:rPr>
              <a:t>Student-Developed Advanced Analysis</a:t>
            </a:r>
            <a:endParaRPr lang="en-GB" sz="2800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BD8E21-F44B-C4EE-661E-B3D2B0DCFF5C}"/>
              </a:ext>
            </a:extLst>
          </p:cNvPr>
          <p:cNvSpPr txBox="1"/>
          <p:nvPr/>
        </p:nvSpPr>
        <p:spPr>
          <a:xfrm>
            <a:off x="7094381" y="3751367"/>
            <a:ext cx="488390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Calculates each patient's total estimated appointment value and ranks patients separately within General, Corporate, and Insurance groups to identify the top 3 patients in each group. This helps compare how appointment value is distributed across different patient segments.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599E84-75B2-5763-F05F-2C622A3C2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29" y="3760351"/>
            <a:ext cx="6632793" cy="30951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9A3F93-1BD1-473E-7FA5-76896B912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82" y="1241774"/>
            <a:ext cx="11777597" cy="250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83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3C945-D47A-3FCA-C9C7-B0A8EA6C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E8E67-D247-C8D8-5C8F-A63007FB4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269" y="541708"/>
            <a:ext cx="11830832" cy="56352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200" dirty="0"/>
              <a:t>Advanced Q4: Calculate the number of days between consecutive appointments for each patient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9EEA70-8EF0-EB59-1B64-4D1C8557A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3" y="375563"/>
            <a:ext cx="11350667" cy="302604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OBJECTIVE 4.2 — Patient Appointment Behaviour</a:t>
            </a:r>
            <a:endParaRPr lang="en-GB" sz="2800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53819-15E3-1FC6-11F0-D3184B416DCE}"/>
              </a:ext>
            </a:extLst>
          </p:cNvPr>
          <p:cNvSpPr txBox="1"/>
          <p:nvPr/>
        </p:nvSpPr>
        <p:spPr>
          <a:xfrm>
            <a:off x="7595421" y="3427779"/>
            <a:ext cx="439330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br>
              <a:rPr lang="en-GB" b="1" dirty="0"/>
            </a:br>
            <a:r>
              <a:rPr lang="en-GB" sz="2000" dirty="0"/>
              <a:t>Uses </a:t>
            </a:r>
            <a:r>
              <a:rPr lang="en-GB" sz="2000" dirty="0">
                <a:latin typeface="Consolas"/>
              </a:rPr>
              <a:t>LAG()</a:t>
            </a:r>
            <a:r>
              <a:rPr lang="en-GB" sz="2000" dirty="0"/>
              <a:t> to find each patient's previous appointment date and </a:t>
            </a:r>
            <a:r>
              <a:rPr lang="en-GB" sz="2000" dirty="0">
                <a:latin typeface="Consolas"/>
              </a:rPr>
              <a:t>DATEDIFF()</a:t>
            </a:r>
            <a:r>
              <a:rPr lang="en-GB" sz="2000" dirty="0"/>
              <a:t> to calculate the number of days between consecutive appointments.</a:t>
            </a:r>
            <a:br>
              <a:rPr lang="en-GB" sz="2000" dirty="0"/>
            </a:br>
            <a:r>
              <a:rPr lang="en-GB" sz="2000" dirty="0"/>
              <a:t> This helps identify how frequently patients return for appointments.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777EB5-C6B4-E1CB-CB72-54CF55A8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20" y="3347385"/>
            <a:ext cx="7454422" cy="3326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DD3920-7F5C-DAF6-EE01-89002DBF6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99" y="1072477"/>
            <a:ext cx="11844403" cy="20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411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CA045-ADE9-3D37-BFC8-359E7C74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19D84-1478-45E9-15A2-F6974A64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98" y="-218"/>
            <a:ext cx="11006202" cy="720139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OBJECTIVE 4.3 — Evaluate Treatment Performance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84B8C-29FA-5CAC-9238-2FCE18FD0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269" y="719160"/>
            <a:ext cx="5922722" cy="545780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1. Compare treatment outcomes across cities.</a:t>
            </a:r>
            <a:endParaRPr lang="en-US" sz="2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483BE-272A-E311-421F-4DD52C147F9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20009" y="708721"/>
            <a:ext cx="5922722" cy="546824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2. Examine treatment duration and waiting time.</a:t>
            </a:r>
            <a:endParaRPr 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31C1D7-97C7-AB2B-BCD2-3002540281F5}"/>
              </a:ext>
            </a:extLst>
          </p:cNvPr>
          <p:cNvSpPr txBox="1"/>
          <p:nvPr/>
        </p:nvSpPr>
        <p:spPr>
          <a:xfrm>
            <a:off x="133884" y="5266094"/>
            <a:ext cx="606939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Groups treatment records by city and treatment status to compare how many treatments were Completed, Cancelled, No-Show, Rescheduled, or In Progress in each city.</a:t>
            </a:r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58712-ED96-041C-E4FD-4B4C0E76CD79}"/>
              </a:ext>
            </a:extLst>
          </p:cNvPr>
          <p:cNvSpPr txBox="1"/>
          <p:nvPr/>
        </p:nvSpPr>
        <p:spPr>
          <a:xfrm>
            <a:off x="6464796" y="4984008"/>
            <a:ext cx="5435982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Calculates the overall average treatment duration and average waiting time across all treatment records.</a:t>
            </a:r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5BCDAB-79B4-9E50-1218-E27316035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39" y="2691596"/>
            <a:ext cx="5113228" cy="2581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E34B92-B5C0-F0BD-745D-224B81E32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439" y="1219787"/>
            <a:ext cx="5698820" cy="15687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47CF80-2DBE-B1BF-8C08-02782B0CF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408" y="2914846"/>
            <a:ext cx="5114663" cy="19051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A16E14-0B0C-B76E-A882-4419E78D8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" y="1221222"/>
            <a:ext cx="6074992" cy="136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29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6744-E9F6-8637-816A-7B475513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3DB19-02F5-7E46-B1DA-63C592E0B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9059" y="385133"/>
            <a:ext cx="12008284" cy="578139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Q5 : Which treatments had waiting times higher than the overall average and how did their treatment duration compare with the overall average?</a:t>
            </a: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E684E4-C40E-6B83-D66C-991028EF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" y="239865"/>
            <a:ext cx="11340229" cy="866274"/>
          </a:xfrm>
        </p:spPr>
        <p:txBody>
          <a:bodyPr/>
          <a:lstStyle/>
          <a:p>
            <a:r>
              <a:rPr lang="en-GB" sz="2800" dirty="0">
                <a:solidFill>
                  <a:srgbClr val="FF0000"/>
                </a:solidFill>
              </a:rPr>
              <a:t>OBJECTIVE 4.3 — Evaluate Treatment Performance</a:t>
            </a:r>
            <a:endParaRPr lang="en-GB" sz="2800" dirty="0">
              <a:solidFill>
                <a:srgbClr val="000000"/>
              </a:solidFill>
            </a:endParaRPr>
          </a:p>
          <a:p>
            <a:endParaRPr lang="en-GB" sz="2800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0EA88-4183-40E2-275F-69AC56F21D30}"/>
              </a:ext>
            </a:extLst>
          </p:cNvPr>
          <p:cNvSpPr txBox="1"/>
          <p:nvPr/>
        </p:nvSpPr>
        <p:spPr>
          <a:xfrm>
            <a:off x="27614" y="5836725"/>
            <a:ext cx="891310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 </a:t>
            </a:r>
            <a:r>
              <a:rPr lang="en-GB" sz="2000" dirty="0"/>
              <a:t>Compares each treatment's waiting time with the overall average and identifies treatments above that benchmark. It also compares their treatment duration with the overall average duration.</a:t>
            </a:r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CDB0B3-E75D-2C11-4D7F-339C3A6A4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84" y="1103204"/>
            <a:ext cx="12039207" cy="2323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D3172F-667E-7AF1-2C68-6A4534066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6" y="3422869"/>
            <a:ext cx="11810739" cy="22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00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96744-E9F6-8637-816A-7B475513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3DB19-02F5-7E46-B1DA-63C592E0B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306" y="781790"/>
            <a:ext cx="11987407" cy="539517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Q1: How does the monthly treatment completion rate change over time, and what is the running average completion rate?</a:t>
            </a: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E684E4-C40E-6B83-D66C-991028EF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" y="239865"/>
            <a:ext cx="11340229" cy="866274"/>
          </a:xfrm>
        </p:spPr>
        <p:txBody>
          <a:bodyPr/>
          <a:lstStyle/>
          <a:p>
            <a:r>
              <a:rPr lang="en-GB" sz="2800" dirty="0">
                <a:solidFill>
                  <a:srgbClr val="FF0000"/>
                </a:solidFill>
              </a:rPr>
              <a:t>OBJECTIVE 4.3 — Evaluate Treatment Performance</a:t>
            </a:r>
            <a:endParaRPr lang="en-GB" sz="2800" dirty="0">
              <a:solidFill>
                <a:srgbClr val="00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Student-Developed Advanced Analysis</a:t>
            </a:r>
            <a:endParaRPr lang="en-GB" sz="2800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B0EA88-4183-40E2-275F-69AC56F21D30}"/>
              </a:ext>
            </a:extLst>
          </p:cNvPr>
          <p:cNvSpPr txBox="1"/>
          <p:nvPr/>
        </p:nvSpPr>
        <p:spPr>
          <a:xfrm>
            <a:off x="7480599" y="4022765"/>
            <a:ext cx="4508121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</a:p>
          <a:p>
            <a:r>
              <a:rPr lang="en-GB" sz="2000" dirty="0"/>
              <a:t>Calculates the monthly treatment completion rate and uses a window function to track the running average over time. This helps identify how treatment completion performance changes across months.</a:t>
            </a:r>
            <a:endParaRPr lang="en-GB" sz="2000" b="1" dirty="0"/>
          </a:p>
          <a:p>
            <a:endParaRPr lang="en-GB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36F70-7A3F-2A52-1C89-2A907DD3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6" y="4022030"/>
            <a:ext cx="7210425" cy="2832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7928D9-1143-5EFB-CCC9-CDB6D034E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" y="1508929"/>
            <a:ext cx="12179602" cy="252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4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AA3E-0BBE-B217-3C50-26D380024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5FA1F-27DE-1803-B5D6-B98A610A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98" y="-218"/>
            <a:ext cx="11006202" cy="720139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OBJECTIVE 4.4 — Doctor &amp; Room Performance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B9335-D470-3749-B62F-51E9CA99C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831" y="583462"/>
            <a:ext cx="5943598" cy="560393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1. Compare the number of treatments handled by doctors.</a:t>
            </a:r>
            <a:endParaRPr lang="en-US" sz="2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E19C15-822F-2632-809E-556C2774D5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9133" y="583461"/>
            <a:ext cx="5943598" cy="560394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2. Compare room usage across room types and equipment types.</a:t>
            </a:r>
            <a:endParaRPr lang="en-US" sz="2200" dirty="0"/>
          </a:p>
          <a:p>
            <a:pPr marL="114300" indent="0">
              <a:buNone/>
            </a:pPr>
            <a:endParaRPr lang="en-GB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7FDECB-C8BC-BD29-4A3F-38B163DF1EE8}"/>
              </a:ext>
            </a:extLst>
          </p:cNvPr>
          <p:cNvSpPr txBox="1"/>
          <p:nvPr/>
        </p:nvSpPr>
        <p:spPr>
          <a:xfrm>
            <a:off x="133884" y="5266094"/>
            <a:ext cx="6069396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Counts the number of treatments handled by each doctor and groups the results by doctor and speciality. This helps identify doctors with higher treatment workloads.</a:t>
            </a:r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65178A-87E2-5DF8-DA7F-3E04F1ABCAD8}"/>
              </a:ext>
            </a:extLst>
          </p:cNvPr>
          <p:cNvSpPr txBox="1"/>
          <p:nvPr/>
        </p:nvSpPr>
        <p:spPr>
          <a:xfrm>
            <a:off x="6621371" y="5119705"/>
            <a:ext cx="5425544" cy="1492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 </a:t>
            </a:r>
            <a:r>
              <a:rPr lang="en-GB" sz="1800" dirty="0"/>
              <a:t>Counts treatments for each combination of room type and equipment type. This helps identify which room and equipment combinations are used most frequently.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1CCFF-13F0-3C27-C6D4-9FDC32C71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21" y="2915041"/>
            <a:ext cx="5705735" cy="2343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41F608-F3A9-674D-6C10-36A2BC5B4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57" y="1462935"/>
            <a:ext cx="5403284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B6329A-3F65-30E5-DA9E-98615455A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411" y="2745289"/>
            <a:ext cx="5571863" cy="23695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E1BD24-9CA0-33AC-37CE-D99F2C800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395" y="1366444"/>
            <a:ext cx="5377841" cy="121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48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7D247-4108-DCA4-7649-C19724B3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725A-92FC-22D7-18BC-A3991C123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" y="886173"/>
            <a:ext cx="11976969" cy="529079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Q1:How do doctors rank within their respective specialties based on the number of treatments they handle? </a:t>
            </a: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C8F722-18C6-BE0B-4C6D-EE0D84C51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" y="125044"/>
            <a:ext cx="11340229" cy="782766"/>
          </a:xfrm>
        </p:spPr>
        <p:txBody>
          <a:bodyPr>
            <a:normAutofit fontScale="90000"/>
          </a:bodyPr>
          <a:lstStyle/>
          <a:p>
            <a:br>
              <a:rPr lang="en-GB" sz="2800" dirty="0">
                <a:solidFill>
                  <a:srgbClr val="FF0000"/>
                </a:solidFill>
              </a:rPr>
            </a:br>
            <a:r>
              <a:rPr lang="en-GB" sz="2800" dirty="0">
                <a:solidFill>
                  <a:srgbClr val="FF0000"/>
                </a:solidFill>
              </a:rPr>
              <a:t>OBJECTIVE 4.4 — Doctor &amp; Room Performance</a:t>
            </a:r>
            <a:endParaRPr lang="en-GB" sz="2800" dirty="0">
              <a:solidFill>
                <a:srgbClr val="00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Student-Developed Advanced Analysis</a:t>
            </a:r>
            <a:endParaRPr lang="en-GB" sz="2800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B229E-FD14-ECF1-47B7-6F6AD3BFB2BC}"/>
              </a:ext>
            </a:extLst>
          </p:cNvPr>
          <p:cNvSpPr txBox="1"/>
          <p:nvPr/>
        </p:nvSpPr>
        <p:spPr>
          <a:xfrm>
            <a:off x="7501475" y="3688738"/>
            <a:ext cx="4487245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</a:p>
          <a:p>
            <a:r>
              <a:rPr lang="en-GB" sz="2000" dirty="0"/>
              <a:t>Counts the treatments handled by each doctor and uses </a:t>
            </a:r>
            <a:r>
              <a:rPr lang="en-GB" sz="2000" dirty="0">
                <a:latin typeface="Consolas"/>
              </a:rPr>
              <a:t>RANK()</a:t>
            </a:r>
            <a:r>
              <a:rPr lang="en-GB" sz="2000" dirty="0"/>
              <a:t> within each speciality to compare doctors based on their treatment workload.</a:t>
            </a:r>
            <a:endParaRPr lang="en-GB" dirty="0"/>
          </a:p>
          <a:p>
            <a:endParaRPr lang="en-GB" sz="2000" b="1" dirty="0"/>
          </a:p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317200-EA56-9264-855E-F526A8253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11" y="1715478"/>
            <a:ext cx="11197485" cy="17777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7EE275-0D9F-C8A0-9D90-426B64D16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69" y="3675214"/>
            <a:ext cx="7331377" cy="272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512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4C646-1531-4295-0601-E3930B959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D15CB-2AE8-4CC3-D63F-090CEDCB5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9059" y="385133"/>
            <a:ext cx="12008284" cy="578139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Q4 : </a:t>
            </a:r>
            <a:r>
              <a:rPr lang="en-GB" sz="2000" dirty="0"/>
              <a:t>Which rooms have both a high treatment workload and above-average patient waiting</a:t>
            </a:r>
            <a:r>
              <a:rPr lang="en-GB" sz="2200" dirty="0"/>
              <a:t> time? </a:t>
            </a: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4744CD-A60C-C672-617E-AC64B3E3E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7" y="239865"/>
            <a:ext cx="11319353" cy="1336000"/>
          </a:xfrm>
        </p:spPr>
        <p:txBody>
          <a:bodyPr/>
          <a:lstStyle/>
          <a:p>
            <a:r>
              <a:rPr lang="en-GB" sz="2800" dirty="0">
                <a:solidFill>
                  <a:srgbClr val="FF0000"/>
                </a:solidFill>
              </a:rPr>
              <a:t>OBJECTIVE 4.4 — Doctor &amp; Room Performance</a:t>
            </a:r>
            <a:endParaRPr lang="en-GB" sz="2800" dirty="0">
              <a:solidFill>
                <a:srgbClr val="000000"/>
              </a:solidFill>
            </a:endParaRPr>
          </a:p>
          <a:p>
            <a:endParaRPr lang="en-GB" sz="2800" dirty="0">
              <a:solidFill>
                <a:srgbClr val="FF0000"/>
              </a:solidFill>
            </a:endParaRPr>
          </a:p>
          <a:p>
            <a:endParaRPr lang="en-GB" sz="2800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32C93C-7924-4856-9993-1C3109A0A442}"/>
              </a:ext>
            </a:extLst>
          </p:cNvPr>
          <p:cNvSpPr txBox="1"/>
          <p:nvPr/>
        </p:nvSpPr>
        <p:spPr>
          <a:xfrm>
            <a:off x="27614" y="5836725"/>
            <a:ext cx="891310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 </a:t>
            </a:r>
            <a:r>
              <a:rPr lang="en-GB" sz="2000" dirty="0"/>
              <a:t>Calculates treatment workload and average waiting time for each room, then compares them with overall room averages to identify rooms that have both high workload and above-average waiting time.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8979C9-2729-C48D-FDA7-B499FE2FB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0" y="3424694"/>
            <a:ext cx="12026682" cy="2305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50E271-D73B-16FA-AD20-2E8A5F4BD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29" y="811843"/>
            <a:ext cx="11956615" cy="246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78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9CB3-DEC1-7EE8-8500-72B9B84D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5F50-679E-B8AE-39A5-379005C8A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31" y="177234"/>
            <a:ext cx="11214969" cy="532249"/>
          </a:xfrm>
        </p:spPr>
        <p:txBody>
          <a:bodyPr>
            <a:normAutofit fontScale="90000"/>
          </a:bodyPr>
          <a:lstStyle/>
          <a:p>
            <a:r>
              <a:rPr lang="en-GB" sz="2800" dirty="0">
                <a:solidFill>
                  <a:srgbClr val="FF0000"/>
                </a:solidFill>
              </a:rPr>
              <a:t>OBJECTIVE 4.5 — This helps identify patients experiencing both repeated treatment activity and higher waiting times.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119FA-010D-123A-06AE-7E8D604E5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269" y="719160"/>
            <a:ext cx="5922722" cy="545780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1. Find common problem statuses and patterns.</a:t>
            </a:r>
            <a:endParaRPr lang="en-US" sz="2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F98B8-C872-541E-7237-3E4B0ECB28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9133" y="458201"/>
            <a:ext cx="5943598" cy="571876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2. Compare treatment outcomes and waiting time across priority levels.</a:t>
            </a:r>
            <a:endParaRPr lang="en-US" sz="2200" dirty="0"/>
          </a:p>
          <a:p>
            <a:pPr marL="114300" indent="0">
              <a:buNone/>
            </a:pPr>
            <a:endParaRPr lang="en-GB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23CF90-F8DC-C499-39C3-90CE2AB8AAB6}"/>
              </a:ext>
            </a:extLst>
          </p:cNvPr>
          <p:cNvSpPr txBox="1"/>
          <p:nvPr/>
        </p:nvSpPr>
        <p:spPr>
          <a:xfrm>
            <a:off x="133884" y="5266094"/>
            <a:ext cx="6069396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</a:t>
            </a:r>
            <a:endParaRPr lang="en-GB" sz="2000" dirty="0"/>
          </a:p>
          <a:p>
            <a:r>
              <a:rPr lang="en-GB" sz="2000" dirty="0"/>
              <a:t>Counts cancelled, no-show, and rescheduled treatments by status to identify the most common treatment problems in the hospital.</a:t>
            </a:r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815AF-37D5-A33B-DE4F-DBC767942602}"/>
              </a:ext>
            </a:extLst>
          </p:cNvPr>
          <p:cNvSpPr txBox="1"/>
          <p:nvPr/>
        </p:nvSpPr>
        <p:spPr>
          <a:xfrm>
            <a:off x="6454358" y="5464173"/>
            <a:ext cx="544642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 </a:t>
            </a:r>
            <a:r>
              <a:rPr lang="en-GB" sz="1800" dirty="0"/>
              <a:t>Groups treatments by priority and treatment status to compare treatment outcomes and average waiting time across different priority levels.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96374-3C31-A30D-4D1D-373E6085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6" t="222" r="220" b="8966"/>
          <a:stretch>
            <a:fillRect/>
          </a:stretch>
        </p:blipFill>
        <p:spPr>
          <a:xfrm>
            <a:off x="150200" y="1315652"/>
            <a:ext cx="5967621" cy="1370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E86318-B8C1-C5BC-366A-C63AEECE2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22" y="2932003"/>
            <a:ext cx="5083608" cy="2069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3B0FBB-1494-1AFB-1229-38175A34F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214" y="2928220"/>
            <a:ext cx="5447517" cy="2442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E17CBB-61E3-DB4D-C821-E3A2B44D4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7474" y="1316799"/>
            <a:ext cx="5593132" cy="16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055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58E-BA0E-CE5A-14AE-E90668800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367F-E420-1A44-E15D-3E27A07F8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2" y="886173"/>
            <a:ext cx="11976969" cy="529079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Q1:Which cities have an above-average problem rate? </a:t>
            </a: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B3E9A9-C1F2-463C-6805-BBE4636E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" y="125044"/>
            <a:ext cx="11340229" cy="782766"/>
          </a:xfrm>
        </p:spPr>
        <p:txBody>
          <a:bodyPr>
            <a:normAutofit fontScale="90000"/>
          </a:bodyPr>
          <a:lstStyle/>
          <a:p>
            <a:br>
              <a:rPr lang="en-GB" sz="2800" dirty="0">
                <a:solidFill>
                  <a:srgbClr val="FF0000"/>
                </a:solidFill>
              </a:rPr>
            </a:br>
            <a:r>
              <a:rPr lang="en-GB" sz="2800" dirty="0">
                <a:solidFill>
                  <a:srgbClr val="FF0000"/>
                </a:solidFill>
              </a:rPr>
              <a:t>OBJECTIVE 4.5— Treatment and Appointment Problems</a:t>
            </a:r>
            <a:endParaRPr lang="en-GB" sz="2800" dirty="0">
              <a:solidFill>
                <a:srgbClr val="000000"/>
              </a:solidFill>
            </a:endParaRPr>
          </a:p>
          <a:p>
            <a:r>
              <a:rPr lang="en-GB" sz="2800" dirty="0">
                <a:solidFill>
                  <a:srgbClr val="FF0000"/>
                </a:solidFill>
              </a:rPr>
              <a:t>Student-Developed Advanced Analysis</a:t>
            </a:r>
            <a:endParaRPr lang="en-GB" sz="2800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564F9-B358-F2D7-A11B-CADD5D42FB6B}"/>
              </a:ext>
            </a:extLst>
          </p:cNvPr>
          <p:cNvSpPr txBox="1"/>
          <p:nvPr/>
        </p:nvSpPr>
        <p:spPr>
          <a:xfrm>
            <a:off x="184188" y="5885237"/>
            <a:ext cx="1170014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 </a:t>
            </a:r>
            <a:r>
              <a:rPr lang="en-GB" sz="2000" dirty="0"/>
              <a:t>Calculates the problem rate for each city and compares it with the overall average problem rate to identify cities with higher-than-average treatment problems.</a:t>
            </a:r>
            <a:endParaRPr lang="en-GB"/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9FB4DF-766A-5EB3-13F2-F865DEA87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4" y="3893769"/>
            <a:ext cx="8994340" cy="18366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96D738E-45FE-6ECA-34EC-9848BF859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60" y="1347461"/>
            <a:ext cx="11792603" cy="253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65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30638-A61F-7E91-FC49-2E4F689F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4C86D-7784-680B-08D0-08891031C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49059" y="385133"/>
            <a:ext cx="12008284" cy="578139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200" dirty="0"/>
              <a:t>Advanced Q4 : Find patients who have both repeated treatment attempts and high waiting time</a:t>
            </a:r>
            <a:endParaRPr lang="en-US" sz="2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4C3894-1A24-9DD6-81DA-3ADC712B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7" y="239865"/>
            <a:ext cx="11319353" cy="1336000"/>
          </a:xfrm>
        </p:spPr>
        <p:txBody>
          <a:bodyPr/>
          <a:lstStyle/>
          <a:p>
            <a:r>
              <a:rPr lang="en-GB" sz="2800" dirty="0">
                <a:solidFill>
                  <a:srgbClr val="FF0000"/>
                </a:solidFill>
              </a:rPr>
              <a:t>OBJECTIVE 4.5 — Treatment and Appointment Problems</a:t>
            </a:r>
            <a:endParaRPr lang="en-GB" sz="2800" dirty="0">
              <a:solidFill>
                <a:srgbClr val="000000"/>
              </a:solidFill>
            </a:endParaRPr>
          </a:p>
          <a:p>
            <a:endParaRPr lang="en-GB" sz="2800" dirty="0">
              <a:solidFill>
                <a:srgbClr val="FF0000"/>
              </a:solidFill>
            </a:endParaRPr>
          </a:p>
          <a:p>
            <a:endParaRPr lang="en-GB" sz="2800" dirty="0">
              <a:solidFill>
                <a:srgbClr val="FF0000"/>
              </a:solidFill>
            </a:endParaRPr>
          </a:p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81F2C-BC0F-512F-B874-C81AFF149659}"/>
              </a:ext>
            </a:extLst>
          </p:cNvPr>
          <p:cNvSpPr txBox="1"/>
          <p:nvPr/>
        </p:nvSpPr>
        <p:spPr>
          <a:xfrm flipH="1">
            <a:off x="7938638" y="3682891"/>
            <a:ext cx="424966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dirty="0"/>
              <a:t>What it does: </a:t>
            </a:r>
            <a:r>
              <a:rPr lang="en-GB" sz="2000" dirty="0"/>
              <a:t>Identifies patients with repeated treatment attempts and average waiting times above the overall patient average. This helps identify patients experiencing both repeated treatment activity and higher waiting times.</a:t>
            </a:r>
            <a:endParaRPr lang="en-GB" sz="2000" b="1" dirty="0"/>
          </a:p>
          <a:p>
            <a:endParaRPr lang="en-GB" sz="2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CBE0A6-581D-69BF-A0A2-58838697E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8" y="907813"/>
            <a:ext cx="11322745" cy="2568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393F59-F3AC-337D-37CF-743B0FDEA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0" y="3689305"/>
            <a:ext cx="7802801" cy="305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83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CF24-C824-E6BA-F6CA-3368B97FD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114402"/>
            <a:ext cx="10962968" cy="893404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IN" sz="3200" b="1" dirty="0">
                <a:solidFill>
                  <a:srgbClr val="FF0000"/>
                </a:solidFill>
                <a:latin typeface="+mn-lt"/>
              </a:rPr>
              <a:t>KEY INSIGHTS AND FINDINGS</a:t>
            </a:r>
            <a:endParaRPr lang="en-AE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A55F5-26D8-F60A-1417-650191751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126" y="872767"/>
            <a:ext cx="10900310" cy="5698129"/>
          </a:xfrm>
        </p:spPr>
        <p:txBody>
          <a:bodyPr>
            <a:noAutofit/>
          </a:bodyPr>
          <a:lstStyle/>
          <a:p>
            <a:pPr algn="just"/>
            <a:r>
              <a:rPr lang="en-US" sz="2200" b="1" dirty="0"/>
              <a:t>Appointment Demand:</a:t>
            </a:r>
            <a:r>
              <a:rPr lang="en-US" sz="2200" dirty="0"/>
              <a:t> Kochi recorded the highest appointment volume, followed by Mumbai and Chennai, showing differences in patient demand across cities. </a:t>
            </a:r>
          </a:p>
          <a:p>
            <a:pPr algn="just"/>
            <a:r>
              <a:rPr lang="en-US" sz="2200" b="1" dirty="0"/>
              <a:t>Booking Behavior:</a:t>
            </a:r>
            <a:r>
              <a:rPr lang="en-US" sz="2200" dirty="0"/>
              <a:t> A small group of patients had considerably higher appointment activity and estimated appointment value than others. </a:t>
            </a:r>
          </a:p>
          <a:p>
            <a:pPr algn="just"/>
            <a:r>
              <a:rPr lang="en-US" sz="2200" b="1" dirty="0"/>
              <a:t>Treatment Performance:</a:t>
            </a:r>
            <a:r>
              <a:rPr lang="en-US" sz="2200" dirty="0"/>
              <a:t> Completed treatments were the largest outcome category, while cancellations, no-shows, and rescheduling represented important operational issues. </a:t>
            </a:r>
          </a:p>
          <a:p>
            <a:pPr algn="just"/>
            <a:r>
              <a:rPr lang="en-US" sz="2200" b="1" dirty="0"/>
              <a:t>Doctor &amp; Room Utilization:</a:t>
            </a:r>
            <a:r>
              <a:rPr lang="en-US" sz="2200" dirty="0"/>
              <a:t> Treatment workload varied across doctors, while certain rooms showed both high treatment workload and above-average waiting time. </a:t>
            </a:r>
          </a:p>
          <a:p>
            <a:pPr algn="just"/>
            <a:r>
              <a:rPr lang="en-US" sz="2200" b="1" dirty="0"/>
              <a:t>Operational Problems:</a:t>
            </a:r>
            <a:r>
              <a:rPr lang="en-US" sz="2200" dirty="0"/>
              <a:t> Some cities had problem rates above the overall average, and certain patients experienced both repeated treatment attempts and higher waiting times. </a:t>
            </a:r>
          </a:p>
          <a:p>
            <a:pPr algn="just"/>
            <a:r>
              <a:rPr lang="en-US" sz="2200" b="1" dirty="0"/>
              <a:t>Advanced Analysis:</a:t>
            </a:r>
            <a:r>
              <a:rPr lang="en-US" sz="2200" dirty="0"/>
              <a:t> Window functions, CTEs, ranking, </a:t>
            </a:r>
            <a:r>
              <a:rPr lang="en-US" sz="2200" dirty="0">
                <a:latin typeface="Consolas"/>
              </a:rPr>
              <a:t>LAG()</a:t>
            </a:r>
            <a:r>
              <a:rPr lang="en-US" sz="2200" dirty="0"/>
              <a:t>, and benchmark comparisons were used to identify patterns that basic aggregation alone would not reveal.</a:t>
            </a:r>
          </a:p>
          <a:p>
            <a:pPr algn="just">
              <a:lnSpc>
                <a:spcPct val="15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1909995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3E01E-2A83-8DB4-4156-FCCBA6ED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AEACA-F1B4-9AA4-44AB-585E0DA9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114402"/>
            <a:ext cx="10962968" cy="893404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n-lt"/>
              </a:rPr>
              <a:t>CHALLENGES &amp; LEARNING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6C1D6-72F7-43A8-2C84-87B90A495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126" y="872767"/>
            <a:ext cx="10900310" cy="5698129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Relational Database Understanding:</a:t>
            </a:r>
            <a:r>
              <a:rPr lang="en-US" sz="2000" dirty="0"/>
              <a:t> Learned how multiple hospital tables are connected through primary keys and foreign keys. </a:t>
            </a:r>
            <a:endParaRPr lang="en-US" dirty="0"/>
          </a:p>
          <a:p>
            <a:pPr algn="just"/>
            <a:r>
              <a:rPr lang="en-US" sz="2000" b="1" dirty="0"/>
              <a:t>Complex SQL Joins:</a:t>
            </a:r>
            <a:r>
              <a:rPr lang="en-US" sz="2000" dirty="0"/>
              <a:t> Worked with multiple </a:t>
            </a:r>
            <a:r>
              <a:rPr lang="en-US" sz="2000" dirty="0">
                <a:latin typeface="Consolas"/>
              </a:rPr>
              <a:t>JOIN</a:t>
            </a:r>
            <a:r>
              <a:rPr lang="en-US" sz="2000" dirty="0"/>
              <a:t> operations to combine patient, appointment, treatment, doctor, and room information. </a:t>
            </a:r>
            <a:endParaRPr lang="en-US" dirty="0"/>
          </a:p>
          <a:p>
            <a:pPr algn="just"/>
            <a:r>
              <a:rPr lang="en-US" sz="2000" b="1" dirty="0"/>
              <a:t>Data Aggregation:</a:t>
            </a:r>
            <a:r>
              <a:rPr lang="en-US" sz="2000" dirty="0"/>
              <a:t> Practiced </a:t>
            </a:r>
            <a:r>
              <a:rPr lang="en-US" sz="2000" dirty="0">
                <a:latin typeface="Consolas"/>
              </a:rPr>
              <a:t>COUNT()</a:t>
            </a:r>
            <a:r>
              <a:rPr lang="en-US" sz="2000" dirty="0"/>
              <a:t>, </a:t>
            </a:r>
            <a:r>
              <a:rPr lang="en-US" sz="2000" dirty="0">
                <a:latin typeface="Consolas"/>
              </a:rPr>
              <a:t>SUM()</a:t>
            </a:r>
            <a:r>
              <a:rPr lang="en-US" sz="2000" dirty="0"/>
              <a:t>, </a:t>
            </a:r>
            <a:r>
              <a:rPr lang="en-US" sz="2000" dirty="0">
                <a:latin typeface="Consolas"/>
              </a:rPr>
              <a:t>AVG()</a:t>
            </a:r>
            <a:r>
              <a:rPr lang="en-US" sz="2000" dirty="0"/>
              <a:t>, </a:t>
            </a:r>
            <a:r>
              <a:rPr lang="en-US" sz="2000" dirty="0">
                <a:latin typeface="Consolas"/>
              </a:rPr>
              <a:t>GROUP BY</a:t>
            </a:r>
            <a:r>
              <a:rPr lang="en-US" sz="2000" dirty="0"/>
              <a:t>, and </a:t>
            </a:r>
            <a:r>
              <a:rPr lang="en-US" sz="2000" dirty="0">
                <a:latin typeface="Consolas"/>
              </a:rPr>
              <a:t>CASE</a:t>
            </a:r>
            <a:r>
              <a:rPr lang="en-US" sz="2000" dirty="0"/>
              <a:t> to answer business questions. </a:t>
            </a:r>
            <a:endParaRPr lang="en-US" dirty="0"/>
          </a:p>
          <a:p>
            <a:pPr algn="just"/>
            <a:r>
              <a:rPr lang="en-US" sz="2000" b="1" dirty="0"/>
              <a:t>Advanced SQL:</a:t>
            </a:r>
            <a:r>
              <a:rPr lang="en-US" sz="2000" dirty="0"/>
              <a:t> Applied CTEs, window functions, </a:t>
            </a:r>
            <a:r>
              <a:rPr lang="en-US" sz="2000" dirty="0">
                <a:latin typeface="Consolas"/>
              </a:rPr>
              <a:t>RANK()</a:t>
            </a:r>
            <a:r>
              <a:rPr lang="en-US" sz="2000" dirty="0"/>
              <a:t>, </a:t>
            </a:r>
            <a:r>
              <a:rPr lang="en-US" sz="2000" dirty="0">
                <a:latin typeface="Consolas"/>
              </a:rPr>
              <a:t>LAG()</a:t>
            </a:r>
            <a:r>
              <a:rPr lang="en-US" sz="2000" dirty="0"/>
              <a:t>, and date functions for deeper analysis. </a:t>
            </a:r>
            <a:endParaRPr lang="en-US" dirty="0"/>
          </a:p>
          <a:p>
            <a:pPr algn="just"/>
            <a:r>
              <a:rPr lang="en-US" sz="2000" b="1" dirty="0"/>
              <a:t>Business Problem Solving:</a:t>
            </a:r>
            <a:r>
              <a:rPr lang="en-US" sz="2000" dirty="0"/>
              <a:t> Converted real-world hospital operational requirements into measurable analytical questions. </a:t>
            </a:r>
            <a:endParaRPr lang="en-US" dirty="0"/>
          </a:p>
          <a:p>
            <a:pPr algn="just"/>
            <a:r>
              <a:rPr lang="en-US" sz="2000" b="1" dirty="0"/>
              <a:t>Data Interpretation:</a:t>
            </a:r>
            <a:r>
              <a:rPr lang="en-US" sz="2000" dirty="0"/>
              <a:t> Learned to move beyond SQL output and translate results into meaningful business findings and operational insights. </a:t>
            </a:r>
            <a:endParaRPr lang="en-US" dirty="0"/>
          </a:p>
          <a:p>
            <a:pPr algn="just"/>
            <a:r>
              <a:rPr lang="en-US" sz="2000" b="1" dirty="0"/>
              <a:t>Presentation &amp; Documentation:</a:t>
            </a:r>
            <a:r>
              <a:rPr lang="en-US" sz="2000" dirty="0"/>
              <a:t> Improved the ability to explain SQL logic, analytical results, and their practical business relevance.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2727578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1C9A-749C-E587-AA1D-EE46A0CB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8347-7725-CAEB-F43A-00E64396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114402"/>
            <a:ext cx="10962968" cy="893404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IN" sz="3200" b="1" dirty="0">
                <a:solidFill>
                  <a:srgbClr val="FF0000"/>
                </a:solidFill>
                <a:latin typeface="+mn-lt"/>
              </a:rPr>
              <a:t>CONCLUSION &amp; RECOMMENDATIONS</a:t>
            </a:r>
            <a:endParaRPr lang="en-AE" sz="32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FCF01-C0F3-4027-A80B-FCD1C67C9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126" y="872767"/>
            <a:ext cx="10900310" cy="5698129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Operational Understanding:</a:t>
            </a:r>
            <a:r>
              <a:rPr lang="en-US" sz="2000" dirty="0"/>
              <a:t> The project provided a structured view of hospital patient care operations using a relational MySQL database. </a:t>
            </a:r>
          </a:p>
          <a:p>
            <a:pPr algn="just"/>
            <a:r>
              <a:rPr lang="en-US" sz="2000" b="1" dirty="0"/>
              <a:t>Patient &amp; Appointment Insights:</a:t>
            </a:r>
            <a:r>
              <a:rPr lang="en-US" sz="2000" dirty="0"/>
              <a:t> SQL analysis helped identify differences in appointment demand, patient activity, booking patterns, and service priorities. </a:t>
            </a:r>
          </a:p>
          <a:p>
            <a:pPr algn="just"/>
            <a:r>
              <a:rPr lang="en-US" sz="2000" b="1" dirty="0"/>
              <a:t>Treatment Performance:</a:t>
            </a:r>
            <a:r>
              <a:rPr lang="en-US" sz="2000" dirty="0"/>
              <a:t> Treatment outcomes, waiting time, treatment duration, and repeated attempts were analyzed to identify operational patterns. </a:t>
            </a:r>
          </a:p>
          <a:p>
            <a:pPr algn="just"/>
            <a:r>
              <a:rPr lang="en-US" sz="2000" b="1" dirty="0"/>
              <a:t>Resource Utilization:</a:t>
            </a:r>
            <a:r>
              <a:rPr lang="en-US" sz="2000" dirty="0"/>
              <a:t> Doctor workload and room usage were examined to understand how hospital resources are being utilized. </a:t>
            </a:r>
          </a:p>
          <a:p>
            <a:pPr algn="just"/>
            <a:r>
              <a:rPr lang="en-US" sz="2000" b="1" dirty="0"/>
              <a:t>Problem Identification:</a:t>
            </a:r>
            <a:r>
              <a:rPr lang="en-US" sz="2000" dirty="0"/>
              <a:t> Cancellations, no-shows, rescheduled treatments, repeated treatment attempts, and higher problem-rate areas were identified. </a:t>
            </a:r>
          </a:p>
          <a:p>
            <a:pPr algn="just"/>
            <a:r>
              <a:rPr lang="en-US" sz="2000" b="1" dirty="0"/>
              <a:t>Data-Driven Recommendations:</a:t>
            </a:r>
            <a:r>
              <a:rPr lang="en-US" sz="2000" dirty="0"/>
              <a:t> The findings can support better appointment planning, workload balancing, resource allocation, and monitoring of treatment delays. </a:t>
            </a:r>
          </a:p>
          <a:p>
            <a:pPr algn="just"/>
            <a:r>
              <a:rPr lang="en-US" sz="2000" b="1" dirty="0"/>
              <a:t>Overall Learning:</a:t>
            </a:r>
            <a:r>
              <a:rPr lang="en-US" sz="2000" dirty="0"/>
              <a:t> The project strengthened practical skills in MySQL, relational databases, advanced SQL, data analysis, and business problem solving.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50000"/>
              </a:lnSpc>
              <a:buNone/>
            </a:pPr>
            <a:endParaRPr lang="en-AE" sz="2000" dirty="0"/>
          </a:p>
        </p:txBody>
      </p:sp>
    </p:spTree>
    <p:extLst>
      <p:ext uri="{BB962C8B-B14F-4D97-AF65-F5344CB8AC3E}">
        <p14:creationId xmlns:p14="http://schemas.microsoft.com/office/powerpoint/2010/main" val="3316055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8284" y="1543665"/>
            <a:ext cx="4709651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8391" y="3016045"/>
            <a:ext cx="5161934" cy="825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000" b="1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4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2594</TotalTime>
  <Words>1715</Words>
  <Application>Microsoft Office PowerPoint</Application>
  <PresentationFormat>Widescreen</PresentationFormat>
  <Paragraphs>198</Paragraphs>
  <Slides>31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                         </vt:lpstr>
      <vt:lpstr>Agenda</vt:lpstr>
      <vt:lpstr>Project Overview : </vt:lpstr>
      <vt:lpstr>Project Objective  </vt:lpstr>
      <vt:lpstr>           Database Structure :  </vt:lpstr>
      <vt:lpstr>ER Diagram  </vt:lpstr>
      <vt:lpstr>Section 1 — Basic SQL Analysis</vt:lpstr>
      <vt:lpstr>Section 1 — Basic SQL Analysis</vt:lpstr>
      <vt:lpstr>Section 1 — Basic SQL Analysis</vt:lpstr>
      <vt:lpstr>Section 1 — Basic SQL Analysis</vt:lpstr>
      <vt:lpstr>Section 2 — Objective-Based Analysis</vt:lpstr>
      <vt:lpstr>OBJECTIVE 4.1 — Patient &amp; Appointment Demand</vt:lpstr>
      <vt:lpstr>OBJECTIVE 4.1 — Patient &amp; Appointment Demand  Student-Developed Advanced Analysis </vt:lpstr>
      <vt:lpstr>OBJECTIVE 4.1 — Patient &amp; Appointment Demand  </vt:lpstr>
      <vt:lpstr>OBJECTIVE 4.2 — Patient Appointment Behaviour</vt:lpstr>
      <vt:lpstr>OBJECTIVE 4.2 — Patient  Appointment Behaviour Student-Developed Advanced Analysis </vt:lpstr>
      <vt:lpstr>OBJECTIVE 4.2 — Patient Appointment Behaviour </vt:lpstr>
      <vt:lpstr>OBJECTIVE 4.3 — Evaluate Treatment Performance</vt:lpstr>
      <vt:lpstr>OBJECTIVE 4.3 — Evaluate Treatment Performance  </vt:lpstr>
      <vt:lpstr>OBJECTIVE 4.3 — Evaluate Treatment Performance Student-Developed Advanced Analysis </vt:lpstr>
      <vt:lpstr>OBJECTIVE 4.4 — Doctor &amp; Room Performance</vt:lpstr>
      <vt:lpstr> OBJECTIVE 4.4 — Doctor &amp; Room Performance Student-Developed Advanced Analysis </vt:lpstr>
      <vt:lpstr>OBJECTIVE 4.4 — Doctor &amp; Room Performance   </vt:lpstr>
      <vt:lpstr>OBJECTIVE 4.5 — This helps identify patients experiencing both repeated treatment activity and higher waiting times.</vt:lpstr>
      <vt:lpstr> OBJECTIVE 4.5— Treatment and Appointment Problems Student-Developed Advanced Analysis </vt:lpstr>
      <vt:lpstr>OBJECTIVE 4.5 — Treatment and Appointment Problems   </vt:lpstr>
      <vt:lpstr> KEY INSIGHTS AND FINDINGS</vt:lpstr>
      <vt:lpstr>CHALLENGES &amp; LEARNING EXPERIENCE</vt:lpstr>
      <vt:lpstr> CONCLUSION &amp;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tokalwar namratha</cp:lastModifiedBy>
  <cp:revision>1320</cp:revision>
  <dcterms:created xsi:type="dcterms:W3CDTF">2021-02-16T05:19:01Z</dcterms:created>
  <dcterms:modified xsi:type="dcterms:W3CDTF">2026-09-21T06:48:15Z</dcterms:modified>
</cp:coreProperties>
</file>